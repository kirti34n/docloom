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FDA-authorized AI/ML medical devices per year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Authorizations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60.0</c:v>
                </c:pt>
                <c:pt idx="1">
                  <c:v>95.0</c:v>
                </c:pt>
                <c:pt idx="2">
                  <c:v>110.0</c:v>
                </c:pt>
                <c:pt idx="3">
                  <c:v>130.0</c:v>
                </c:pt>
                <c:pt idx="4">
                  <c:v>140.0</c:v>
                </c:pt>
                <c:pt idx="5">
                  <c:v>170.0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E6E9EF"/>
          </a:solidFill>
          <a:latin typeface="Inte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4000" b="1" i="0">
                <a:solidFill>
                  <a:srgbClr val="E6E9EF"/>
                </a:solidFill>
                <a:latin typeface="Sora"/>
              </a:rPr>
              <a:t>The Future of AI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5760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0" i="0">
                <a:solidFill>
                  <a:srgbClr val="8A94A6"/>
                </a:solidFill>
                <a:latin typeface="Inter"/>
              </a:rPr>
              <a:t>From pilot projects to the point of care — what is real today, what is hype, and what has to be true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8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487168"/>
            <a:ext cx="1097280" cy="45720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600" b="1" i="0">
                <a:solidFill>
                  <a:srgbClr val="0B0E14"/>
                </a:solidFill>
                <a:latin typeface="Sora"/>
              </a:rPr>
              <a:t>The shift is already underway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800" b="0" i="0">
                <a:solidFill>
                  <a:srgbClr val="0B0E14"/>
                </a:solidFill>
                <a:latin typeface="Inter"/>
              </a:rPr>
              <a:t>AI has moved past the demo — it reads scans, drafts notes, and flags deteriorating patients inside the workflow every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E6E9EF"/>
                </a:solidFill>
                <a:latin typeface="Sora"/>
              </a:rPr>
              <a:t>Where AI already earns its keep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94415" cy="13843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Radiology — triaging strokes, pulmonary nodules, and fractures ahead of the reading queue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Pathology — quantifying tumor cells and grading biopsies at scale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Ambient documentation — drafting the clinical note from the visit conversation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Drug discovery — narrowing candidate molecules from millions to a shortlist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Operations — predicting no-shows, staffing, and sepsis risk hours earlier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E6E9EF"/>
                </a:solidFill>
                <a:latin typeface="Sora"/>
              </a:rPr>
              <a:t>The numbers behind the 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98448"/>
            <a:ext cx="3545738" cy="12801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63039"/>
            <a:ext cx="3216554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3380E6"/>
                </a:solidFill>
                <a:latin typeface="Sora"/>
              </a:rPr>
              <a:t>~1,000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39"/>
            <a:ext cx="321655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0">
                <a:solidFill>
                  <a:srgbClr val="8A94A6"/>
                </a:solidFill>
                <a:latin typeface="Inter"/>
              </a:rPr>
              <a:t>FDA-authorized AI/ML medical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76272"/>
            <a:ext cx="321655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000" b="0" i="0">
                <a:solidFill>
                  <a:srgbClr val="3380E6"/>
                </a:solidFill>
                <a:latin typeface="Inter"/>
              </a:rPr>
              <a:t>up from ~50 in 2015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1298448"/>
            <a:ext cx="3545738" cy="12801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7570" y="1463039"/>
            <a:ext cx="3216554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3380E6"/>
                </a:solidFill>
                <a:latin typeface="Sora"/>
              </a:rPr>
              <a:t>~76%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7570" y="1920239"/>
            <a:ext cx="321655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0">
                <a:solidFill>
                  <a:srgbClr val="8A94A6"/>
                </a:solidFill>
                <a:latin typeface="Inter"/>
              </a:rPr>
              <a:t>Share that are imaging/radiology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298448"/>
            <a:ext cx="3545738" cy="12801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1908" y="1463039"/>
            <a:ext cx="3216554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3380E6"/>
                </a:solidFill>
                <a:latin typeface="Sora"/>
              </a:rPr>
              <a:t>~50%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1908" y="1920239"/>
            <a:ext cx="321655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0">
                <a:solidFill>
                  <a:srgbClr val="8A94A6"/>
                </a:solidFill>
                <a:latin typeface="Inter"/>
              </a:rPr>
              <a:t>Documentation time saved by ambient scribes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1908" y="2176272"/>
            <a:ext cx="321655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000" b="0" i="0">
                <a:solidFill>
                  <a:srgbClr val="3380E6"/>
                </a:solidFill>
                <a:latin typeface="Inter"/>
              </a:rPr>
              <a:t>clinician-reported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06624"/>
            <a:ext cx="11094415" cy="2311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400" b="0" i="0">
                <a:solidFill>
                  <a:srgbClr val="E6E9EF"/>
                </a:solidFill>
                <a:latin typeface="Inter"/>
              </a:rPr>
              <a:t>Adoption is real but uneven — concentrated where the signal is visual and the ground truth is clear.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E6E9EF"/>
                </a:solidFill>
                <a:latin typeface="Sora"/>
              </a:rPr>
              <a:t>Promise and peril,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5318607" cy="264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600" b="1" i="0">
                <a:solidFill>
                  <a:srgbClr val="E6E9EF"/>
                </a:solidFill>
                <a:latin typeface="Sora"/>
              </a:rPr>
              <a:t>The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0624"/>
            <a:ext cx="5318607" cy="1107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Faster, earlier diagnosis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Fewer missed findings and errors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Care reaching where specialists are scarce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Clinicians freed from the keyboard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298448"/>
            <a:ext cx="5318607" cy="264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600" b="1" i="0">
                <a:solidFill>
                  <a:srgbClr val="E6E9EF"/>
                </a:solidFill>
                <a:latin typeface="Sora"/>
              </a:rPr>
              <a:t>The peril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1690624"/>
            <a:ext cx="5318607" cy="83057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Bias when training data misses populations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Validated retrospectively, not prospectively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Clinical LLMs that hallucinate with confidence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E6E9EF"/>
                </a:solidFill>
                <a:latin typeface="Sora"/>
              </a:rPr>
              <a:t>AI-enabled device authorizations keep climbing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298448"/>
          <a:ext cx="11094415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49824"/>
            <a:ext cx="11094415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1">
                <a:solidFill>
                  <a:srgbClr val="8A94A6"/>
                </a:solidFill>
                <a:latin typeface="Inter"/>
              </a:rPr>
              <a:t>Illustrative trend; radiology dominates every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E6E9EF"/>
                </a:solidFill>
                <a:latin typeface="Sora"/>
              </a:rPr>
              <a:t>What has to be true for AI to earn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94415" cy="13843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1.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Prospective validation on real patients, not just held-out data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2.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Transparency about what the model was trained on and where it fails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3.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Equity checks across age, sex, and skin tone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4.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A clinician in the loop with the authority to override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5.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Monitoring for drift after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810764"/>
            <a:ext cx="11094415" cy="470662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810764"/>
            <a:ext cx="73152" cy="470662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938780"/>
            <a:ext cx="10765231" cy="21463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E6E9EF"/>
                </a:solidFill>
                <a:latin typeface="Inter"/>
              </a:rPr>
              <a:t>The bottleneck is no longer accuracy on a benchmark — it is trust, evidence, and accountability in the clinic.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600" b="0" i="0">
                <a:solidFill>
                  <a:srgbClr val="8A94A6"/>
                </a:solidFill>
                <a:latin typeface="Sora"/>
              </a:rPr>
              <a:t>The real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3079" y="2548890"/>
            <a:ext cx="64008" cy="1485900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2548890"/>
            <a:ext cx="7985455" cy="1485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0" i="1">
                <a:solidFill>
                  <a:srgbClr val="E6E9EF"/>
                </a:solidFill>
                <a:latin typeface="Inter"/>
              </a:rPr>
              <a:t>AI will not replace physicians — but it will reshape what a physician spends their day doing.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E6E9EF"/>
                </a:solidFill>
                <a:latin typeface="Sora"/>
              </a:rPr>
              <a:t>The next five years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94415" cy="1107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Ambient AI becomes the default way notes get written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Multimodal foundation models read images, text, and labs together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Real-world evidence, not just trials, drives approval</a:t>
            </a:r>
          </a:p>
          <a:p>
            <a:pPr marL="320040" indent="-228600">
              <a:spcAft>
                <a:spcPts val="400"/>
              </a:spcAft>
            </a:pPr>
            <a:r>
              <a:rPr sz="1400">
                <a:solidFill>
                  <a:srgbClr val="3380E6"/>
                </a:solidFill>
                <a:latin typeface="Inter"/>
              </a:rPr>
              <a:t>•  </a:t>
            </a:r>
            <a:r>
              <a:rPr sz="1400" b="0" i="0">
                <a:solidFill>
                  <a:srgbClr val="E6E9EF"/>
                </a:solidFill>
                <a:latin typeface="Inter"/>
              </a:rPr>
              <a:t>Regulation shifts from one-time clearance to continuous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33904"/>
            <a:ext cx="11094415" cy="470662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533904"/>
            <a:ext cx="73152" cy="470662"/>
          </a:xfrm>
          <a:prstGeom prst="rect">
            <a:avLst/>
          </a:prstGeom>
          <a:solidFill>
            <a:srgbClr val="338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61920"/>
            <a:ext cx="10765231" cy="21463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E6E9EF"/>
                </a:solidFill>
                <a:latin typeface="Inter"/>
              </a:rPr>
              <a:t>Winners will be the teams that pair a capable model with clinical evidence — not the flashiest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