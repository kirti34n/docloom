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Welcome to docloom. This deck is authored using docloom itselfâ€”a dogfood test. We're going to walk through the problem we solve, the architecture, and how you can use it today.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problem: LLMs are good at generating text, but not at producing structured output that renders correctly every time. We needed a bridge.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core insight: put quality gates in the right place. Validate early, let the linter help the model correct itself, then render deterministically.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data flow: sources come in, get ingested and embedded, retrieval feeds grounded generation, the IR is validated, linted, and rendered. No hand-placed coordinatesâ€”the renderer owns the layout.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Scale and scope: 14 block types cover everything from paragraphs to native charts to coordinate-free diagrams. 658 passing tests keep it all working.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Same IR, six completely different renderers. Each owns its own coordinates and styling. Charts in PPTX are native editable objects, not rasterized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studio brings it all together: import sources, chat with them, generate artifacts. Everything works offline with a local model.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Quality is not an afterthought. Every diagram label is tested for legibility. PPTX text is actually measured, not guessed.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studio is designed for privacy and safety. You own your data. There's no third-party account required, no API keys sent to the cloud unless you choose.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Getting started is simple. One launcher script handles everything. The first visit registers a local account; everything stays in your data directory.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Fully configurable. Switch providers in the UI without restarting. Add Postgres for multi-node deployments. All secrets are encrypted at rest.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These principles drive every architectural decision. Schema validation prevents entire classes of bugs. Determinism means you can regenerate anytime and get the same file.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1F3D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2286000"/>
            <a:ext cx="10637215" cy="128016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4000" b="1" i="0">
                <a:solidFill>
                  <a:srgbClr val="14161A"/>
                </a:solidFill>
                <a:latin typeface="IBM Plex Sans"/>
              </a:rPr>
              <a:t>docloom: LLM to Documents, Instantly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3657600"/>
            <a:ext cx="10637215" cy="54864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000" b="0" i="0">
                <a:solidFill>
                  <a:srgbClr val="5E6B7A"/>
                </a:solidFill>
                <a:latin typeface="IBM Plex Sans"/>
              </a:rPr>
              <a:t>Validated IR + Deterministic Renderers = 6 Native Formats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5760720"/>
            <a:ext cx="10637215" cy="32004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1400" b="0" i="0">
                <a:solidFill>
                  <a:srgbClr val="5E6B7A"/>
                </a:solidFill>
                <a:latin typeface="IBM Plex Sans"/>
              </a:rPr>
              <a:t>docloom project  ·  2026-07-21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94415" cy="566928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600" b="1" i="0">
                <a:solidFill>
                  <a:srgbClr val="14161A"/>
                </a:solidFill>
                <a:latin typeface="IBM Plex Sans"/>
              </a:rPr>
              <a:t>From Raw LLM Output to Production Files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42416"/>
            <a:ext cx="11094415" cy="25603"/>
          </a:xfrm>
          <a:prstGeom prst="rect">
            <a:avLst/>
          </a:prstGeom>
          <a:solidFill>
            <a:srgbClr val="1F3D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596263"/>
            <a:ext cx="11094415" cy="192087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marL="320040" indent="-228600">
              <a:spcAft>
                <a:spcPts val="600"/>
              </a:spcAft>
            </a:pPr>
            <a:r>
              <a:rPr sz="1750">
                <a:solidFill>
                  <a:srgbClr val="1F3D63"/>
                </a:solidFill>
                <a:latin typeface="IBM Plex Sans"/>
              </a:rPr>
              <a:t>•  </a:t>
            </a:r>
            <a:r>
              <a:rPr sz="1750" b="0" i="0">
                <a:solidFill>
                  <a:srgbClr val="14161A"/>
                </a:solidFill>
                <a:latin typeface="IBM Plex Sans"/>
              </a:rPr>
              <a:t>LLM outputs are unstructured and unpredictable</a:t>
            </a:r>
          </a:p>
          <a:p>
            <a:pPr marL="320040" indent="-228600">
              <a:spcAft>
                <a:spcPts val="600"/>
              </a:spcAft>
            </a:pPr>
            <a:r>
              <a:rPr sz="1750">
                <a:solidFill>
                  <a:srgbClr val="1F3D63"/>
                </a:solidFill>
                <a:latin typeface="IBM Plex Sans"/>
              </a:rPr>
              <a:t>•  </a:t>
            </a:r>
            <a:r>
              <a:rPr sz="1750" b="0" i="0">
                <a:solidFill>
                  <a:srgbClr val="14161A"/>
                </a:solidFill>
                <a:latin typeface="IBM Plex Sans"/>
              </a:rPr>
              <a:t>Manual formatting is error-prone and time-consuming</a:t>
            </a:r>
          </a:p>
          <a:p>
            <a:pPr marL="320040" indent="-228600">
              <a:spcAft>
                <a:spcPts val="600"/>
              </a:spcAft>
            </a:pPr>
            <a:r>
              <a:rPr sz="1750">
                <a:solidFill>
                  <a:srgbClr val="1F3D63"/>
                </a:solidFill>
                <a:latin typeface="IBM Plex Sans"/>
              </a:rPr>
              <a:t>•  </a:t>
            </a:r>
            <a:r>
              <a:rPr sz="1750" b="0" i="0">
                <a:solidFill>
                  <a:srgbClr val="14161A"/>
                </a:solidFill>
                <a:latin typeface="IBM Plex Sans"/>
              </a:rPr>
              <a:t>Renderers need consistent, validated input</a:t>
            </a:r>
          </a:p>
          <a:p>
            <a:pPr marL="320040" indent="-228600">
              <a:spcAft>
                <a:spcPts val="600"/>
              </a:spcAft>
            </a:pPr>
            <a:r>
              <a:rPr sz="1750">
                <a:solidFill>
                  <a:srgbClr val="1F3D63"/>
                </a:solidFill>
                <a:latin typeface="IBM Plex Sans"/>
              </a:rPr>
              <a:t>•  </a:t>
            </a:r>
            <a:r>
              <a:rPr sz="1750" b="0" i="0">
                <a:solidFill>
                  <a:srgbClr val="14161A"/>
                </a:solidFill>
                <a:latin typeface="IBM Plex Sans"/>
              </a:rPr>
              <a:t>Quality checks should happen before any file is written</a:t>
            </a:r>
          </a:p>
          <a:p>
            <a:pPr marL="320040" indent="-228600">
              <a:spcAft>
                <a:spcPts val="600"/>
              </a:spcAft>
            </a:pPr>
            <a:r>
              <a:rPr sz="1750">
                <a:solidFill>
                  <a:srgbClr val="1F3D63"/>
                </a:solidFill>
                <a:latin typeface="IBM Plex Sans"/>
              </a:rPr>
              <a:t>•  </a:t>
            </a:r>
            <a:r>
              <a:rPr sz="1750" b="0" i="0">
                <a:solidFill>
                  <a:srgbClr val="14161A"/>
                </a:solidFill>
                <a:latin typeface="IBM Plex Sans"/>
              </a:rPr>
              <a:t>Users need native, editable formatsâ€”not rasterized images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94415" cy="566928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600" b="1" i="0">
                <a:solidFill>
                  <a:srgbClr val="14161A"/>
                </a:solidFill>
                <a:latin typeface="IBM Plex Sans"/>
              </a:rPr>
              <a:t>Validated IR, Deterministic Renderers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42416"/>
            <a:ext cx="11094415" cy="25603"/>
          </a:xfrm>
          <a:prstGeom prst="rect">
            <a:avLst/>
          </a:prstGeom>
          <a:solidFill>
            <a:srgbClr val="1F3D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71250"/>
            <a:ext cx="11094415" cy="1536699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marL="320040" indent="-228600">
              <a:spcAft>
                <a:spcPts val="600"/>
              </a:spcAft>
            </a:pPr>
            <a:r>
              <a:rPr sz="1750">
                <a:solidFill>
                  <a:srgbClr val="1F3D63"/>
                </a:solidFill>
                <a:latin typeface="IBM Plex Sans"/>
              </a:rPr>
              <a:t>•  </a:t>
            </a:r>
            <a:r>
              <a:rPr sz="1750" b="0" i="0">
                <a:solidFill>
                  <a:srgbClr val="14161A"/>
                </a:solidFill>
                <a:latin typeface="IBM Plex Sans"/>
              </a:rPr>
              <a:t>LLM emits schema-validated JSON (Pydantic IR)</a:t>
            </a:r>
          </a:p>
          <a:p>
            <a:pPr marL="320040" indent="-228600">
              <a:spcAft>
                <a:spcPts val="600"/>
              </a:spcAft>
            </a:pPr>
            <a:r>
              <a:rPr sz="1750">
                <a:solidFill>
                  <a:srgbClr val="1F3D63"/>
                </a:solidFill>
                <a:latin typeface="IBM Plex Sans"/>
              </a:rPr>
              <a:t>•  </a:t>
            </a:r>
            <a:r>
              <a:rPr sz="1750" b="0" i="0">
                <a:solidFill>
                  <a:srgbClr val="14161A"/>
                </a:solidFill>
                <a:latin typeface="IBM Plex Sans"/>
              </a:rPr>
              <a:t>Deterministic linter checks layout, citations, contrast</a:t>
            </a:r>
          </a:p>
          <a:p>
            <a:pPr marL="320040" indent="-228600">
              <a:spcAft>
                <a:spcPts val="600"/>
              </a:spcAft>
            </a:pPr>
            <a:r>
              <a:rPr sz="1750">
                <a:solidFill>
                  <a:srgbClr val="1F3D63"/>
                </a:solidFill>
                <a:latin typeface="IBM Plex Sans"/>
              </a:rPr>
              <a:t>•  </a:t>
            </a:r>
            <a:r>
              <a:rPr sz="1750" b="0" i="0">
                <a:solidFill>
                  <a:srgbClr val="14161A"/>
                </a:solidFill>
                <a:latin typeface="IBM Plex Sans"/>
              </a:rPr>
              <a:t>Findings loop back to model for self-correction</a:t>
            </a:r>
          </a:p>
          <a:p>
            <a:pPr marL="320040" indent="-228600">
              <a:spcAft>
                <a:spcPts val="600"/>
              </a:spcAft>
            </a:pPr>
            <a:r>
              <a:rPr sz="1750">
                <a:solidFill>
                  <a:srgbClr val="1F3D63"/>
                </a:solidFill>
                <a:latin typeface="IBM Plex Sans"/>
              </a:rPr>
              <a:t>•  </a:t>
            </a:r>
            <a:r>
              <a:rPr sz="1750" b="0" i="0">
                <a:solidFill>
                  <a:srgbClr val="14161A"/>
                </a:solidFill>
                <a:latin typeface="IBM Plex Sans"/>
              </a:rPr>
              <a:t>Deterministic renderers: same IR = same output, always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4311454"/>
            <a:ext cx="11094415" cy="792607"/>
          </a:xfrm>
          <a:prstGeom prst="rect">
            <a:avLst/>
          </a:prstGeom>
          <a:solidFill>
            <a:srgbClr val="D9D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4311454"/>
            <a:ext cx="73152" cy="792607"/>
          </a:xfrm>
          <a:prstGeom prst="rect">
            <a:avLst/>
          </a:prstGeom>
          <a:solidFill>
            <a:srgbClr val="1F3D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4439470"/>
            <a:ext cx="10765231" cy="536575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1625" b="0" i="0">
                <a:solidFill>
                  <a:srgbClr val="14161A"/>
                </a:solidFill>
                <a:latin typeface="IBM Plex Sans"/>
              </a:rPr>
              <a:t>The IR is deliberately non-recursive with plain tagged unionsâ€”shaped to survive real LLM structured-output constraints.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94415" cy="566928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600" b="1" i="0">
                <a:solidFill>
                  <a:srgbClr val="14161A"/>
                </a:solidFill>
                <a:latin typeface="IBM Plex Sans"/>
              </a:rPr>
              <a:t>docloom architecture, end to end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42416"/>
            <a:ext cx="11094415" cy="25603"/>
          </a:xfrm>
          <a:prstGeom prst="rect">
            <a:avLst/>
          </a:prstGeom>
          <a:solidFill>
            <a:srgbClr val="1F3D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docloom:diagram:anon:9bd9a0f4086a" descr="docloom architecture (full)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298448"/>
            <a:ext cx="11094415" cy="353634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4871368"/>
            <a:ext cx="11094415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i="1">
                <a:solidFill>
                  <a:srgbClr val="5E6B7A"/>
                </a:solidFill>
                <a:latin typeface="IBM Plex Sans"/>
              </a:rPr>
              <a:t>The full studio + engine architecture: auth, retrieval, jobs, generation, versioned artifacts, and deterministic rendering.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218840"/>
            <a:ext cx="11094415" cy="92202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marL="320040" indent="-228600">
              <a:spcAft>
                <a:spcPts val="600"/>
              </a:spcAft>
            </a:pPr>
            <a:r>
              <a:rPr sz="1400">
                <a:solidFill>
                  <a:srgbClr val="1F3D63"/>
                </a:solidFill>
                <a:latin typeface="IBM Plex Sans"/>
              </a:rPr>
              <a:t>•  </a:t>
            </a:r>
            <a:r>
              <a:rPr sz="1400" b="0" i="0">
                <a:solidFill>
                  <a:srgbClr val="14161A"/>
                </a:solidFill>
                <a:latin typeface="IBM Plex Sans"/>
              </a:rPr>
              <a:t>Sources are chunked, embedded, and ranked, so only the most relevant evidence reaches the model</a:t>
            </a:r>
          </a:p>
          <a:p>
            <a:pPr marL="320040" indent="-228600">
              <a:spcAft>
                <a:spcPts val="600"/>
              </a:spcAft>
            </a:pPr>
            <a:r>
              <a:rPr sz="1400">
                <a:solidFill>
                  <a:srgbClr val="1F3D63"/>
                </a:solidFill>
                <a:latin typeface="IBM Plex Sans"/>
              </a:rPr>
              <a:t>•  </a:t>
            </a:r>
            <a:r>
              <a:rPr sz="1400" b="0" i="0">
                <a:solidFill>
                  <a:srgbClr val="14161A"/>
                </a:solidFill>
                <a:latin typeface="IBM Plex Sans"/>
              </a:rPr>
              <a:t>The model emits validated IR, never files; the linter checks layout and citations before any render</a:t>
            </a:r>
          </a:p>
          <a:p>
            <a:pPr marL="320040" indent="-228600">
              <a:spcAft>
                <a:spcPts val="600"/>
              </a:spcAft>
            </a:pPr>
            <a:r>
              <a:rPr sz="1400">
                <a:solidFill>
                  <a:srgbClr val="1F3D63"/>
                </a:solidFill>
                <a:latin typeface="IBM Plex Sans"/>
              </a:rPr>
              <a:t>•  </a:t>
            </a:r>
            <a:r>
              <a:rPr sz="1400" b="0" i="0">
                <a:solidFill>
                  <a:srgbClr val="14161A"/>
                </a:solidFill>
                <a:latin typeface="IBM Plex Sans"/>
              </a:rPr>
              <a:t>Deterministic renderers turn one IR into all six formats with no lossy conversion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94415" cy="566928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600" b="1" i="0">
                <a:solidFill>
                  <a:srgbClr val="14161A"/>
                </a:solidFill>
                <a:latin typeface="IBM Plex Sans"/>
              </a:rPr>
              <a:t>Count What Matters: 14 Block Types, 6 Formats, 658+ Tests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42416"/>
            <a:ext cx="11094415" cy="25603"/>
          </a:xfrm>
          <a:prstGeom prst="rect">
            <a:avLst/>
          </a:prstGeom>
          <a:solidFill>
            <a:srgbClr val="1F3D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2865363"/>
            <a:ext cx="2036003" cy="1280160"/>
          </a:xfrm>
          <a:prstGeom prst="roundRect">
            <a:avLst/>
          </a:prstGeom>
          <a:solidFill>
            <a:srgbClr val="EBE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3029955"/>
            <a:ext cx="1706819" cy="384048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400" b="1" i="0">
                <a:solidFill>
                  <a:srgbClr val="1F3D63"/>
                </a:solidFill>
                <a:latin typeface="IBM Plex Sans"/>
              </a:rPr>
              <a:t>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3487155"/>
            <a:ext cx="1706819" cy="23774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1300" b="0" i="0">
                <a:solidFill>
                  <a:srgbClr val="5E6B7A"/>
                </a:solidFill>
                <a:latin typeface="IBM Plex Sans"/>
              </a:rPr>
              <a:t>Block Types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813243" y="2865363"/>
            <a:ext cx="2036003" cy="1280160"/>
          </a:xfrm>
          <a:prstGeom prst="roundRect">
            <a:avLst/>
          </a:prstGeom>
          <a:solidFill>
            <a:srgbClr val="EBE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977835" y="3029955"/>
            <a:ext cx="1706819" cy="384048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400" b="1" i="0">
                <a:solidFill>
                  <a:srgbClr val="1F3D63"/>
                </a:solidFill>
                <a:latin typeface="IBM Plex Sans"/>
              </a:rPr>
              <a:t>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77835" y="3487155"/>
            <a:ext cx="1706819" cy="23774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1300" b="0" i="0">
                <a:solidFill>
                  <a:srgbClr val="5E6B7A"/>
                </a:solidFill>
                <a:latin typeface="IBM Plex Sans"/>
              </a:rPr>
              <a:t>Output Formats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77846" y="2865363"/>
            <a:ext cx="2036003" cy="1280160"/>
          </a:xfrm>
          <a:prstGeom prst="roundRect">
            <a:avLst/>
          </a:prstGeom>
          <a:solidFill>
            <a:srgbClr val="EBE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42438" y="3029955"/>
            <a:ext cx="1706819" cy="384048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400" b="1" i="0">
                <a:solidFill>
                  <a:srgbClr val="1F3D63"/>
                </a:solidFill>
                <a:latin typeface="IBM Plex Sans"/>
              </a:rPr>
              <a:t>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42438" y="3487155"/>
            <a:ext cx="1706819" cy="23774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1300" b="0" i="0">
                <a:solidFill>
                  <a:srgbClr val="5E6B7A"/>
                </a:solidFill>
                <a:latin typeface="IBM Plex Sans"/>
              </a:rPr>
              <a:t>Slide Layouts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42449" y="2865363"/>
            <a:ext cx="2036003" cy="1280160"/>
          </a:xfrm>
          <a:prstGeom prst="roundRect">
            <a:avLst/>
          </a:prstGeom>
          <a:solidFill>
            <a:srgbClr val="EBE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507041" y="3029955"/>
            <a:ext cx="1706819" cy="384048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400" b="1" i="0">
                <a:solidFill>
                  <a:srgbClr val="1F3D63"/>
                </a:solidFill>
                <a:latin typeface="IBM Plex Sans"/>
              </a:rPr>
              <a:t>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507041" y="3487155"/>
            <a:ext cx="1706819" cy="23774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1300" b="0" i="0">
                <a:solidFill>
                  <a:srgbClr val="5E6B7A"/>
                </a:solidFill>
                <a:latin typeface="IBM Plex Sans"/>
              </a:rPr>
              <a:t>Diagram Node Types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607052" y="2865363"/>
            <a:ext cx="2036003" cy="1280160"/>
          </a:xfrm>
          <a:prstGeom prst="roundRect">
            <a:avLst/>
          </a:prstGeom>
          <a:solidFill>
            <a:srgbClr val="EBE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771644" y="3029955"/>
            <a:ext cx="1706819" cy="384048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400" b="1" i="0">
                <a:solidFill>
                  <a:srgbClr val="1F3D63"/>
                </a:solidFill>
                <a:latin typeface="IBM Plex Sans"/>
              </a:rPr>
              <a:t>658+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771644" y="3487155"/>
            <a:ext cx="1706819" cy="23774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1300" b="0" i="0">
                <a:solidFill>
                  <a:srgbClr val="5E6B7A"/>
                </a:solidFill>
                <a:latin typeface="IBM Plex Sans"/>
              </a:rPr>
              <a:t>Tests (Passing)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94415" cy="566928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600" b="1" i="0">
                <a:solidFill>
                  <a:srgbClr val="14161A"/>
                </a:solidFill>
                <a:latin typeface="IBM Plex Sans"/>
              </a:rPr>
              <a:t>Generate Six Native Formats from One IR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42416"/>
            <a:ext cx="11094415" cy="25603"/>
          </a:xfrm>
          <a:prstGeom prst="rect">
            <a:avLst/>
          </a:prstGeom>
          <a:solidFill>
            <a:srgbClr val="1F3D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434910"/>
            <a:ext cx="11094415" cy="2305049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marL="320040" indent="-228600">
              <a:spcAft>
                <a:spcPts val="600"/>
              </a:spcAft>
            </a:pPr>
            <a:r>
              <a:rPr sz="1750">
                <a:solidFill>
                  <a:srgbClr val="1F3D63"/>
                </a:solidFill>
                <a:latin typeface="IBM Plex Sans"/>
              </a:rPr>
              <a:t>•  </a:t>
            </a:r>
            <a:r>
              <a:rPr sz="1750" b="0" i="0">
                <a:solidFill>
                  <a:srgbClr val="14161A"/>
                </a:solidFill>
                <a:latin typeface="IBM Plex Sans"/>
              </a:rPr>
              <a:t>PPTX: native editable charts, autofit text, native shapes</a:t>
            </a:r>
          </a:p>
          <a:p>
            <a:pPr marL="320040" indent="-228600">
              <a:spcAft>
                <a:spcPts val="600"/>
              </a:spcAft>
            </a:pPr>
            <a:r>
              <a:rPr sz="1750">
                <a:solidFill>
                  <a:srgbClr val="1F3D63"/>
                </a:solidFill>
                <a:latin typeface="IBM Plex Sans"/>
              </a:rPr>
              <a:t>•  </a:t>
            </a:r>
            <a:r>
              <a:rPr sz="1750" b="0" i="0">
                <a:solidFill>
                  <a:srgbClr val="14161A"/>
                </a:solidFill>
                <a:latin typeface="IBM Plex Sans"/>
              </a:rPr>
              <a:t>DOCX: hardened tables, repeating headers, fixed column widths</a:t>
            </a:r>
          </a:p>
          <a:p>
            <a:pPr marL="320040" indent="-228600">
              <a:spcAft>
                <a:spcPts val="600"/>
              </a:spcAft>
            </a:pPr>
            <a:r>
              <a:rPr sz="1750">
                <a:solidFill>
                  <a:srgbClr val="1F3D63"/>
                </a:solidFill>
                <a:latin typeface="IBM Plex Sans"/>
              </a:rPr>
              <a:t>•  </a:t>
            </a:r>
            <a:r>
              <a:rPr sz="1750" b="0" i="0">
                <a:solidFill>
                  <a:srgbClr val="14161A"/>
                </a:solidFill>
                <a:latin typeface="IBM Plex Sans"/>
              </a:rPr>
              <a:t>XLSX: typed cells, formulas, number formats</a:t>
            </a:r>
          </a:p>
          <a:p>
            <a:pPr marL="320040" indent="-228600">
              <a:spcAft>
                <a:spcPts val="600"/>
              </a:spcAft>
            </a:pPr>
            <a:r>
              <a:rPr sz="1750">
                <a:solidFill>
                  <a:srgbClr val="1F3D63"/>
                </a:solidFill>
                <a:latin typeface="IBM Plex Sans"/>
              </a:rPr>
              <a:t>•  </a:t>
            </a:r>
            <a:r>
              <a:rPr sz="1750" b="0" i="0">
                <a:solidFill>
                  <a:srgbClr val="14161A"/>
                </a:solidFill>
                <a:latin typeface="IBM Plex Sans"/>
              </a:rPr>
              <a:t>PDF: Typst compiled in-process, no LaTeX needed</a:t>
            </a:r>
          </a:p>
          <a:p>
            <a:pPr marL="320040" indent="-228600">
              <a:spcAft>
                <a:spcPts val="600"/>
              </a:spcAft>
            </a:pPr>
            <a:r>
              <a:rPr sz="1750">
                <a:solidFill>
                  <a:srgbClr val="1F3D63"/>
                </a:solidFill>
                <a:latin typeface="IBM Plex Sans"/>
              </a:rPr>
              <a:t>•  </a:t>
            </a:r>
            <a:r>
              <a:rPr sz="1750" b="0" i="0">
                <a:solidFill>
                  <a:srgbClr val="14161A"/>
                </a:solidFill>
                <a:latin typeface="IBM Plex Sans"/>
              </a:rPr>
              <a:t>HTML: semantic markup with WCAG 2.x contrast</a:t>
            </a:r>
          </a:p>
          <a:p>
            <a:pPr marL="320040" indent="-228600">
              <a:spcAft>
                <a:spcPts val="600"/>
              </a:spcAft>
            </a:pPr>
            <a:r>
              <a:rPr sz="1750">
                <a:solidFill>
                  <a:srgbClr val="1F3D63"/>
                </a:solidFill>
                <a:latin typeface="IBM Plex Sans"/>
              </a:rPr>
              <a:t>•  </a:t>
            </a:r>
            <a:r>
              <a:rPr sz="1750" b="0" i="0">
                <a:solidFill>
                  <a:srgbClr val="14161A"/>
                </a:solidFill>
                <a:latin typeface="IBM Plex Sans"/>
              </a:rPr>
              <a:t>Markdown: clean, readable prose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94415" cy="566928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600" b="1" i="0">
                <a:solidFill>
                  <a:srgbClr val="14161A"/>
                </a:solidFill>
                <a:latin typeface="IBM Plex Sans"/>
              </a:rPr>
              <a:t>Turn Source Data into Grounded Artifacts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42416"/>
            <a:ext cx="11094415" cy="25603"/>
          </a:xfrm>
          <a:prstGeom prst="rect">
            <a:avLst/>
          </a:prstGeom>
          <a:solidFill>
            <a:srgbClr val="1F3D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579541"/>
            <a:ext cx="5318607" cy="350837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125" b="1" i="0">
                <a:solidFill>
                  <a:srgbClr val="14161A"/>
                </a:solidFill>
                <a:latin typeface="IBM Plex Sans"/>
              </a:rPr>
              <a:t>Add Sources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003530"/>
            <a:ext cx="5318607" cy="1536699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marL="320040" indent="-228600">
              <a:spcAft>
                <a:spcPts val="600"/>
              </a:spcAft>
            </a:pPr>
            <a:r>
              <a:rPr sz="1750">
                <a:solidFill>
                  <a:srgbClr val="1F3D63"/>
                </a:solidFill>
                <a:latin typeface="IBM Plex Sans"/>
              </a:rPr>
              <a:t>•  </a:t>
            </a:r>
            <a:r>
              <a:rPr sz="1750" b="0" i="0">
                <a:solidFill>
                  <a:srgbClr val="14161A"/>
                </a:solidFill>
                <a:latin typeface="IBM Plex Sans"/>
              </a:rPr>
              <a:t>Upload file, URL, or paste text</a:t>
            </a:r>
          </a:p>
          <a:p>
            <a:pPr marL="320040" indent="-228600">
              <a:spcAft>
                <a:spcPts val="600"/>
              </a:spcAft>
            </a:pPr>
            <a:r>
              <a:rPr sz="1750">
                <a:solidFill>
                  <a:srgbClr val="1F3D63"/>
                </a:solidFill>
                <a:latin typeface="IBM Plex Sans"/>
              </a:rPr>
              <a:t>•  </a:t>
            </a:r>
            <a:r>
              <a:rPr sz="1750" b="0" i="0">
                <a:solidFill>
                  <a:srgbClr val="14161A"/>
                </a:solidFill>
                <a:latin typeface="IBM Plex Sans"/>
              </a:rPr>
              <a:t>Free web research agent included</a:t>
            </a:r>
          </a:p>
          <a:p>
            <a:pPr marL="320040" indent="-228600">
              <a:spcAft>
                <a:spcPts val="600"/>
              </a:spcAft>
            </a:pPr>
            <a:r>
              <a:rPr sz="1750">
                <a:solidFill>
                  <a:srgbClr val="1F3D63"/>
                </a:solidFill>
                <a:latin typeface="IBM Plex Sans"/>
              </a:rPr>
              <a:t>•  </a:t>
            </a:r>
            <a:r>
              <a:rPr sz="1750" b="0" i="0">
                <a:solidFill>
                  <a:srgbClr val="14161A"/>
                </a:solidFill>
                <a:latin typeface="IBM Plex Sans"/>
              </a:rPr>
              <a:t>Hybrid BM25 + dense retrieval</a:t>
            </a:r>
          </a:p>
          <a:p>
            <a:pPr marL="320040" indent="-228600">
              <a:spcAft>
                <a:spcPts val="600"/>
              </a:spcAft>
            </a:pPr>
            <a:r>
              <a:rPr sz="1750">
                <a:solidFill>
                  <a:srgbClr val="1F3D63"/>
                </a:solidFill>
                <a:latin typeface="IBM Plex Sans"/>
              </a:rPr>
              <a:t>•  </a:t>
            </a:r>
            <a:r>
              <a:rPr sz="1750" b="0" i="0">
                <a:solidFill>
                  <a:srgbClr val="14161A"/>
                </a:solidFill>
                <a:latin typeface="IBM Plex Sans"/>
              </a:rPr>
              <a:t>Automatic chunking at 1000 chars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24447" y="2619546"/>
            <a:ext cx="5318607" cy="350837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125" b="1" i="0">
                <a:solidFill>
                  <a:srgbClr val="14161A"/>
                </a:solidFill>
                <a:latin typeface="IBM Plex Sans"/>
              </a:rPr>
              <a:t>Generate Artifacts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24447" y="3043535"/>
            <a:ext cx="5318607" cy="144145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marL="320040" indent="-228600">
              <a:spcAft>
                <a:spcPts val="600"/>
              </a:spcAft>
            </a:pPr>
            <a:r>
              <a:rPr sz="1750">
                <a:solidFill>
                  <a:srgbClr val="1F3D63"/>
                </a:solidFill>
                <a:latin typeface="IBM Plex Sans"/>
              </a:rPr>
              <a:t>•  </a:t>
            </a:r>
            <a:r>
              <a:rPr sz="1750" b="0" i="0">
                <a:solidFill>
                  <a:srgbClr val="14161A"/>
                </a:solidFill>
                <a:latin typeface="IBM Plex Sans"/>
              </a:rPr>
              <a:t>Chat with grounded, cited answers</a:t>
            </a:r>
          </a:p>
          <a:p>
            <a:pPr marL="320040" indent="-228600">
              <a:spcAft>
                <a:spcPts val="600"/>
              </a:spcAft>
            </a:pPr>
            <a:r>
              <a:rPr sz="1750">
                <a:solidFill>
                  <a:srgbClr val="1F3D63"/>
                </a:solidFill>
                <a:latin typeface="IBM Plex Sans"/>
              </a:rPr>
              <a:t>•  </a:t>
            </a:r>
            <a:r>
              <a:rPr sz="1750" b="0" i="0">
                <a:solidFill>
                  <a:srgbClr val="14161A"/>
                </a:solidFill>
                <a:latin typeface="IBM Plex Sans"/>
              </a:rPr>
              <a:t>5 one-click guides (briefing, FAQ, timeline)</a:t>
            </a:r>
          </a:p>
          <a:p>
            <a:pPr marL="320040" indent="-228600">
              <a:spcAft>
                <a:spcPts val="600"/>
              </a:spcAft>
            </a:pPr>
            <a:r>
              <a:rPr sz="1750">
                <a:solidFill>
                  <a:srgbClr val="1F3D63"/>
                </a:solidFill>
                <a:latin typeface="IBM Plex Sans"/>
              </a:rPr>
              <a:t>•  </a:t>
            </a:r>
            <a:r>
              <a:rPr sz="1750" b="0" i="0">
                <a:solidFill>
                  <a:srgbClr val="14161A"/>
                </a:solidFill>
                <a:latin typeface="IBM Plex Sans"/>
              </a:rPr>
              <a:t>6 artifact kinds: deck, doc, sheet, diagram, infographic, podcast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94415" cy="566928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600" b="1" i="0">
                <a:solidFill>
                  <a:srgbClr val="14161A"/>
                </a:solidFill>
                <a:latin typeface="IBM Plex Sans"/>
              </a:rPr>
              <a:t>Keep Text Legible at Any Scale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42416"/>
            <a:ext cx="11094415" cy="25603"/>
          </a:xfrm>
          <a:prstGeom prst="rect">
            <a:avLst/>
          </a:prstGeom>
          <a:solidFill>
            <a:srgbClr val="1F3D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22577"/>
            <a:ext cx="11094415" cy="192087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marL="320040" indent="-228600">
              <a:spcAft>
                <a:spcPts val="600"/>
              </a:spcAft>
            </a:pPr>
            <a:r>
              <a:rPr sz="1750">
                <a:solidFill>
                  <a:srgbClr val="1F3D63"/>
                </a:solidFill>
                <a:latin typeface="IBM Plex Sans"/>
              </a:rPr>
              <a:t>•  </a:t>
            </a:r>
            <a:r>
              <a:rPr sz="1750" b="0" i="0">
                <a:solidFill>
                  <a:srgbClr val="14161A"/>
                </a:solidFill>
                <a:latin typeface="IBM Plex Sans"/>
              </a:rPr>
              <a:t>Measured autofit: real text extents via FreeType against actual fonts</a:t>
            </a:r>
          </a:p>
          <a:p>
            <a:pPr marL="320040" indent="-228600">
              <a:spcAft>
                <a:spcPts val="600"/>
              </a:spcAft>
            </a:pPr>
            <a:r>
              <a:rPr sz="1750">
                <a:solidFill>
                  <a:srgbClr val="1F3D63"/>
                </a:solidFill>
                <a:latin typeface="IBM Plex Sans"/>
              </a:rPr>
              <a:t>•  </a:t>
            </a:r>
            <a:r>
              <a:rPr sz="1750" b="0" i="0">
                <a:solidFill>
                  <a:srgbClr val="14161A"/>
                </a:solidFill>
                <a:latin typeface="IBM Plex Sans"/>
              </a:rPr>
              <a:t>WCAG 2.x contrast ratio checking: 4.5:1 for normal text</a:t>
            </a:r>
          </a:p>
          <a:p>
            <a:pPr marL="320040" indent="-228600">
              <a:spcAft>
                <a:spcPts val="600"/>
              </a:spcAft>
            </a:pPr>
            <a:r>
              <a:rPr sz="1750">
                <a:solidFill>
                  <a:srgbClr val="1F3D63"/>
                </a:solidFill>
                <a:latin typeface="IBM Plex Sans"/>
              </a:rPr>
              <a:t>•  </a:t>
            </a:r>
            <a:r>
              <a:rPr sz="1750" b="0" i="0">
                <a:solidFill>
                  <a:srgbClr val="14161A"/>
                </a:solidFill>
                <a:latin typeface="IBM Plex Sans"/>
              </a:rPr>
              <a:t>Diagram legibility: labels never truncated, step down detail instead</a:t>
            </a:r>
          </a:p>
          <a:p>
            <a:pPr marL="320040" indent="-228600">
              <a:spcAft>
                <a:spcPts val="600"/>
              </a:spcAft>
            </a:pPr>
            <a:r>
              <a:rPr sz="1750">
                <a:solidFill>
                  <a:srgbClr val="1F3D63"/>
                </a:solidFill>
                <a:latin typeface="IBM Plex Sans"/>
              </a:rPr>
              <a:t>•  </a:t>
            </a:r>
            <a:r>
              <a:rPr sz="1750" b="0" i="0">
                <a:solidFill>
                  <a:srgbClr val="14161A"/>
                </a:solidFill>
                <a:latin typeface="IBM Plex Sans"/>
              </a:rPr>
              <a:t>Table hardening: fixed widths, repeating headers, split prevention</a:t>
            </a:r>
          </a:p>
          <a:p>
            <a:pPr marL="320040" indent="-228600">
              <a:spcAft>
                <a:spcPts val="600"/>
              </a:spcAft>
            </a:pPr>
            <a:r>
              <a:rPr sz="1750">
                <a:solidFill>
                  <a:srgbClr val="1F3D63"/>
                </a:solidFill>
                <a:latin typeface="IBM Plex Sans"/>
              </a:rPr>
              <a:t>•  </a:t>
            </a:r>
            <a:r>
              <a:rPr sz="1750" b="0" i="0">
                <a:solidFill>
                  <a:srgbClr val="14161A"/>
                </a:solidFill>
                <a:latin typeface="IBM Plex Sans"/>
              </a:rPr>
              <a:t>Geometric QA: off-slide detection, overlap checks, font sprawl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4646956"/>
            <a:ext cx="11094415" cy="524319"/>
          </a:xfrm>
          <a:prstGeom prst="rect">
            <a:avLst/>
          </a:prstGeom>
          <a:solidFill>
            <a:srgbClr val="DBE3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4646956"/>
            <a:ext cx="73152" cy="524319"/>
          </a:xfrm>
          <a:prstGeom prst="rect">
            <a:avLst/>
          </a:prstGeom>
          <a:solidFill>
            <a:srgbClr val="2F62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4774972"/>
            <a:ext cx="10765231" cy="268287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1625" b="0" i="0">
                <a:solidFill>
                  <a:srgbClr val="14161A"/>
                </a:solidFill>
                <a:latin typeface="IBM Plex Sans"/>
              </a:rPr>
              <a:t>Design principle: lint before render. Only error severity blocks a render; warnings help improve.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94415" cy="566928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600" b="1" i="0">
                <a:solidFill>
                  <a:srgbClr val="14161A"/>
                </a:solidFill>
                <a:latin typeface="IBM Plex Sans"/>
              </a:rPr>
              <a:t>Local-First, Offline-Ready, Multi-Tenant-Safe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42416"/>
            <a:ext cx="11094415" cy="25603"/>
          </a:xfrm>
          <a:prstGeom prst="rect">
            <a:avLst/>
          </a:prstGeom>
          <a:solidFill>
            <a:srgbClr val="1F3D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596263"/>
            <a:ext cx="11094415" cy="192087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marL="320040" indent="-228600">
              <a:spcAft>
                <a:spcPts val="600"/>
              </a:spcAft>
            </a:pPr>
            <a:r>
              <a:rPr sz="1750">
                <a:solidFill>
                  <a:srgbClr val="1F3D63"/>
                </a:solidFill>
                <a:latin typeface="IBM Plex Sans"/>
              </a:rPr>
              <a:t>•  </a:t>
            </a:r>
            <a:r>
              <a:rPr sz="1750" b="0" i="0">
                <a:solidFill>
                  <a:srgbClr val="14161A"/>
                </a:solidFill>
                <a:latin typeface="IBM Plex Sans"/>
              </a:rPr>
              <a:t>Runs fully offline against a local model (ollama, llama.cpp, etc.)</a:t>
            </a:r>
          </a:p>
          <a:p>
            <a:pPr marL="320040" indent="-228600">
              <a:spcAft>
                <a:spcPts val="600"/>
              </a:spcAft>
            </a:pPr>
            <a:r>
              <a:rPr sz="1750">
                <a:solidFill>
                  <a:srgbClr val="1F3D63"/>
                </a:solidFill>
                <a:latin typeface="IBM Plex Sans"/>
              </a:rPr>
              <a:t>•  </a:t>
            </a:r>
            <a:r>
              <a:rPr sz="1750" b="0" i="0">
                <a:solidFill>
                  <a:srgbClr val="14161A"/>
                </a:solidFill>
                <a:latin typeface="IBM Plex Sans"/>
              </a:rPr>
              <a:t>SQLite default, Postgres for scale</a:t>
            </a:r>
          </a:p>
          <a:p>
            <a:pPr marL="320040" indent="-228600">
              <a:spcAft>
                <a:spcPts val="600"/>
              </a:spcAft>
            </a:pPr>
            <a:r>
              <a:rPr sz="1750">
                <a:solidFill>
                  <a:srgbClr val="1F3D63"/>
                </a:solidFill>
                <a:latin typeface="IBM Plex Sans"/>
              </a:rPr>
              <a:t>•  </a:t>
            </a:r>
            <a:r>
              <a:rPr sz="1750" b="0" i="0">
                <a:solidFill>
                  <a:srgbClr val="14161A"/>
                </a:solidFill>
                <a:latin typeface="IBM Plex Sans"/>
              </a:rPr>
              <a:t>Session tokens stored only as SHA-256 hashes</a:t>
            </a:r>
          </a:p>
          <a:p>
            <a:pPr marL="320040" indent="-228600">
              <a:spcAft>
                <a:spcPts val="600"/>
              </a:spcAft>
            </a:pPr>
            <a:r>
              <a:rPr sz="1750">
                <a:solidFill>
                  <a:srgbClr val="1F3D63"/>
                </a:solidFill>
                <a:latin typeface="IBM Plex Sans"/>
              </a:rPr>
              <a:t>•  </a:t>
            </a:r>
            <a:r>
              <a:rPr sz="1750" b="0" i="0">
                <a:solidFill>
                  <a:srgbClr val="14161A"/>
                </a:solidFill>
                <a:latin typeface="IBM Plex Sans"/>
              </a:rPr>
              <a:t>Cross-tenant access returns 404, not 403</a:t>
            </a:r>
          </a:p>
          <a:p>
            <a:pPr marL="320040" indent="-228600">
              <a:spcAft>
                <a:spcPts val="600"/>
              </a:spcAft>
            </a:pPr>
            <a:r>
              <a:rPr sz="1750">
                <a:solidFill>
                  <a:srgbClr val="1F3D63"/>
                </a:solidFill>
                <a:latin typeface="IBM Plex Sans"/>
              </a:rPr>
              <a:t>•  </a:t>
            </a:r>
            <a:r>
              <a:rPr sz="1750" b="0" i="0">
                <a:solidFill>
                  <a:srgbClr val="14161A"/>
                </a:solidFill>
                <a:latin typeface="IBM Plex Sans"/>
              </a:rPr>
              <a:t>Secrets encrypted at rest with Fernet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94415" cy="566928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600" b="1" i="0">
                <a:solidFill>
                  <a:srgbClr val="14161A"/>
                </a:solidFill>
                <a:latin typeface="IBM Plex Sans"/>
              </a:rPr>
              <a:t>One Command to Launch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42416"/>
            <a:ext cx="11094415" cy="25603"/>
          </a:xfrm>
          <a:prstGeom prst="rect">
            <a:avLst/>
          </a:prstGeom>
          <a:solidFill>
            <a:srgbClr val="1F3D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60864"/>
            <a:ext cx="11094415" cy="28067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1700" b="1" i="0">
                <a:solidFill>
                  <a:srgbClr val="14161A"/>
                </a:solidFill>
                <a:latin typeface="IBM Plex Sans"/>
              </a:rPr>
              <a:t>Windows (PowerShell)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2214686"/>
            <a:ext cx="11094415" cy="417576"/>
          </a:xfrm>
          <a:prstGeom prst="rect">
            <a:avLst/>
          </a:prstGeom>
          <a:solidFill>
            <a:srgbClr val="EBE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2324414"/>
            <a:ext cx="10874959" cy="19812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1200">
                <a:solidFill>
                  <a:srgbClr val="14161A"/>
                </a:solidFill>
                <a:latin typeface="Consolas"/>
              </a:rPr>
              <a:t>studio.ps1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235766"/>
            <a:ext cx="11094415" cy="28067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1700" b="1" i="0">
                <a:solidFill>
                  <a:srgbClr val="14161A"/>
                </a:solidFill>
                <a:latin typeface="IBM Plex Sans"/>
              </a:rPr>
              <a:t>macOS / Linux / Git Bash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3589588"/>
            <a:ext cx="11094415" cy="417576"/>
          </a:xfrm>
          <a:prstGeom prst="rect">
            <a:avLst/>
          </a:prstGeom>
          <a:solidFill>
            <a:srgbClr val="EBE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3699316"/>
            <a:ext cx="10874959" cy="19812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1200">
                <a:solidFill>
                  <a:srgbClr val="14161A"/>
                </a:solidFill>
                <a:latin typeface="Consolas"/>
              </a:rPr>
              <a:t>studio.sh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610668"/>
            <a:ext cx="11094415" cy="92202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marL="320040" indent="-228600">
              <a:spcAft>
                <a:spcPts val="600"/>
              </a:spcAft>
            </a:pPr>
            <a:r>
              <a:rPr sz="1400">
                <a:solidFill>
                  <a:srgbClr val="1F3D63"/>
                </a:solidFill>
                <a:latin typeface="IBM Plex Sans"/>
              </a:rPr>
              <a:t>•  </a:t>
            </a:r>
            <a:r>
              <a:rPr sz="1400" b="0" i="0">
                <a:solidFill>
                  <a:srgbClr val="14161A"/>
                </a:solidFill>
                <a:latin typeface="IBM Plex Sans"/>
              </a:rPr>
              <a:t>Installs dependencies, builds frontend, opens browser</a:t>
            </a:r>
          </a:p>
          <a:p>
            <a:pPr marL="320040" indent="-228600">
              <a:spcAft>
                <a:spcPts val="600"/>
              </a:spcAft>
            </a:pPr>
            <a:r>
              <a:rPr sz="1400">
                <a:solidFill>
                  <a:srgbClr val="1F3D63"/>
                </a:solidFill>
                <a:latin typeface="IBM Plex Sans"/>
              </a:rPr>
              <a:t>•  </a:t>
            </a:r>
            <a:r>
              <a:rPr sz="1400" b="0" i="0">
                <a:solidFill>
                  <a:srgbClr val="14161A"/>
                </a:solidFill>
                <a:latin typeface="IBM Plex Sans"/>
              </a:rPr>
              <a:t>Default: http://127.0.0.1:8899</a:t>
            </a:r>
          </a:p>
          <a:p>
            <a:pPr marL="320040" indent="-228600">
              <a:spcAft>
                <a:spcPts val="600"/>
              </a:spcAft>
            </a:pPr>
            <a:r>
              <a:rPr sz="1400">
                <a:solidFill>
                  <a:srgbClr val="1F3D63"/>
                </a:solidFill>
                <a:latin typeface="IBM Plex Sans"/>
              </a:rPr>
              <a:t>•  </a:t>
            </a:r>
            <a:r>
              <a:rPr sz="1400" b="0" i="0">
                <a:solidFill>
                  <a:srgbClr val="14161A"/>
                </a:solidFill>
                <a:latin typeface="IBM Plex Sans"/>
              </a:rPr>
              <a:t>Prerequisites: uv, Node 22+, npm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94415" cy="566928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600" b="1" i="0">
                <a:solidFill>
                  <a:srgbClr val="14161A"/>
                </a:solidFill>
                <a:latin typeface="IBM Plex Sans"/>
              </a:rPr>
              <a:t>Set Up Providers, Storage, and Secrets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42416"/>
            <a:ext cx="11094415" cy="25603"/>
          </a:xfrm>
          <a:prstGeom prst="rect">
            <a:avLst/>
          </a:prstGeom>
          <a:solidFill>
            <a:srgbClr val="1F3D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596263"/>
            <a:ext cx="11094415" cy="192087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marL="320040" indent="-228600">
              <a:spcAft>
                <a:spcPts val="600"/>
              </a:spcAft>
            </a:pPr>
            <a:r>
              <a:rPr sz="1750">
                <a:solidFill>
                  <a:srgbClr val="1F3D63"/>
                </a:solidFill>
                <a:latin typeface="IBM Plex Sans"/>
              </a:rPr>
              <a:t>•  </a:t>
            </a:r>
            <a:r>
              <a:rPr sz="1750" b="0" i="0">
                <a:solidFill>
                  <a:srgbClr val="14161A"/>
                </a:solidFill>
                <a:latin typeface="IBM Plex Sans"/>
              </a:rPr>
              <a:t>Generation: ollama, llama-server, lmstudio, openai, anthropic, gemini</a:t>
            </a:r>
          </a:p>
          <a:p>
            <a:pPr marL="320040" indent="-228600">
              <a:spcAft>
                <a:spcPts val="600"/>
              </a:spcAft>
            </a:pPr>
            <a:r>
              <a:rPr sz="1750">
                <a:solidFill>
                  <a:srgbClr val="1F3D63"/>
                </a:solidFill>
                <a:latin typeface="IBM Plex Sans"/>
              </a:rPr>
              <a:t>•  </a:t>
            </a:r>
            <a:r>
              <a:rPr sz="1750" b="0" i="0">
                <a:solidFill>
                  <a:srgbClr val="14161A"/>
                </a:solidFill>
                <a:latin typeface="IBM Plex Sans"/>
              </a:rPr>
              <a:t>Storage: SQLite (default) or Postgres via DOCLOOM_DB_URL</a:t>
            </a:r>
          </a:p>
          <a:p>
            <a:pPr marL="320040" indent="-228600">
              <a:spcAft>
                <a:spcPts val="600"/>
              </a:spcAft>
            </a:pPr>
            <a:r>
              <a:rPr sz="1750">
                <a:solidFill>
                  <a:srgbClr val="1F3D63"/>
                </a:solidFill>
                <a:latin typeface="IBM Plex Sans"/>
              </a:rPr>
              <a:t>•  </a:t>
            </a:r>
            <a:r>
              <a:rPr sz="1750" b="0" i="0">
                <a:solidFill>
                  <a:srgbClr val="14161A"/>
                </a:solidFill>
                <a:latin typeface="IBM Plex Sans"/>
              </a:rPr>
              <a:t>Secrets: Fernet encryption, masked in API responses</a:t>
            </a:r>
          </a:p>
          <a:p>
            <a:pPr marL="320040" indent="-228600">
              <a:spcAft>
                <a:spcPts val="600"/>
              </a:spcAft>
            </a:pPr>
            <a:r>
              <a:rPr sz="1750">
                <a:solidFill>
                  <a:srgbClr val="1F3D63"/>
                </a:solidFill>
                <a:latin typeface="IBM Plex Sans"/>
              </a:rPr>
              <a:t>•  </a:t>
            </a:r>
            <a:r>
              <a:rPr sz="1750" b="0" i="0">
                <a:solidFill>
                  <a:srgbClr val="14161A"/>
                </a:solidFill>
                <a:latin typeface="IBM Plex Sans"/>
              </a:rPr>
              <a:t>Optional extras: [pdf,diagrams] for engine; [podcast,ingest] for studio</a:t>
            </a:r>
          </a:p>
          <a:p>
            <a:pPr marL="320040" indent="-228600">
              <a:spcAft>
                <a:spcPts val="600"/>
              </a:spcAft>
            </a:pPr>
            <a:r>
              <a:rPr sz="1750">
                <a:solidFill>
                  <a:srgbClr val="1F3D63"/>
                </a:solidFill>
                <a:latin typeface="IBM Plex Sans"/>
              </a:rPr>
              <a:t>•  </a:t>
            </a:r>
            <a:r>
              <a:rPr sz="1750" b="0" i="0">
                <a:solidFill>
                  <a:srgbClr val="14161A"/>
                </a:solidFill>
                <a:latin typeface="IBM Plex Sans"/>
              </a:rPr>
              <a:t>Settings resolve: per-user â†’ global â†’ built-in defaults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94415" cy="566928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600" b="1" i="0">
                <a:solidFill>
                  <a:srgbClr val="14161A"/>
                </a:solidFill>
                <a:latin typeface="IBM Plex Sans"/>
              </a:rPr>
              <a:t>Design Principles: Built for Reliability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42416"/>
            <a:ext cx="11094415" cy="25603"/>
          </a:xfrm>
          <a:prstGeom prst="rect">
            <a:avLst/>
          </a:prstGeom>
          <a:solidFill>
            <a:srgbClr val="1F3D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596263"/>
            <a:ext cx="11094415" cy="192087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marL="320040" indent="-228600">
              <a:spcAft>
                <a:spcPts val="600"/>
              </a:spcAft>
            </a:pPr>
            <a:r>
              <a:rPr sz="1750">
                <a:solidFill>
                  <a:srgbClr val="1F3D63"/>
                </a:solidFill>
                <a:latin typeface="IBM Plex Sans"/>
              </a:rPr>
              <a:t>•  </a:t>
            </a:r>
            <a:r>
              <a:rPr sz="1750" b="0" i="0">
                <a:solidFill>
                  <a:srgbClr val="14161A"/>
                </a:solidFill>
                <a:latin typeface="IBM Plex Sans"/>
              </a:rPr>
              <a:t>Validated IR, not code: LLM output is data, never executable</a:t>
            </a:r>
          </a:p>
          <a:p>
            <a:pPr marL="320040" indent="-228600">
              <a:spcAft>
                <a:spcPts val="600"/>
              </a:spcAft>
            </a:pPr>
            <a:r>
              <a:rPr sz="1750">
                <a:solidFill>
                  <a:srgbClr val="1F3D63"/>
                </a:solidFill>
                <a:latin typeface="IBM Plex Sans"/>
              </a:rPr>
              <a:t>•  </a:t>
            </a:r>
            <a:r>
              <a:rPr sz="1750" b="0" i="0">
                <a:solidFill>
                  <a:srgbClr val="14161A"/>
                </a:solidFill>
                <a:latin typeface="IBM Plex Sans"/>
              </a:rPr>
              <a:t>Deterministic renderers: same input = same output, always</a:t>
            </a:r>
          </a:p>
          <a:p>
            <a:pPr marL="320040" indent="-228600">
              <a:spcAft>
                <a:spcPts val="600"/>
              </a:spcAft>
            </a:pPr>
            <a:r>
              <a:rPr sz="1750">
                <a:solidFill>
                  <a:srgbClr val="1F3D63"/>
                </a:solidFill>
                <a:latin typeface="IBM Plex Sans"/>
              </a:rPr>
              <a:t>•  </a:t>
            </a:r>
            <a:r>
              <a:rPr sz="1750" b="0" i="0">
                <a:solidFill>
                  <a:srgbClr val="14161A"/>
                </a:solidFill>
                <a:latin typeface="IBM Plex Sans"/>
              </a:rPr>
              <a:t>Lint before render: findings can loop back to model</a:t>
            </a:r>
          </a:p>
          <a:p>
            <a:pPr marL="320040" indent="-228600">
              <a:spcAft>
                <a:spcPts val="600"/>
              </a:spcAft>
            </a:pPr>
            <a:r>
              <a:rPr sz="1750">
                <a:solidFill>
                  <a:srgbClr val="1F3D63"/>
                </a:solidFill>
                <a:latin typeface="IBM Plex Sans"/>
              </a:rPr>
              <a:t>•  </a:t>
            </a:r>
            <a:r>
              <a:rPr sz="1750" b="0" i="0">
                <a:solidFill>
                  <a:srgbClr val="14161A"/>
                </a:solidFill>
                <a:latin typeface="IBM Plex Sans"/>
              </a:rPr>
              <a:t>Nothing authored is lost: labels step down, never truncate</a:t>
            </a:r>
          </a:p>
          <a:p>
            <a:pPr marL="320040" indent="-228600">
              <a:spcAft>
                <a:spcPts val="600"/>
              </a:spcAft>
            </a:pPr>
            <a:r>
              <a:rPr sz="1750">
                <a:solidFill>
                  <a:srgbClr val="1F3D63"/>
                </a:solidFill>
                <a:latin typeface="IBM Plex Sans"/>
              </a:rPr>
              <a:t>•  </a:t>
            </a:r>
            <a:r>
              <a:rPr sz="1750" b="0" i="0">
                <a:solidFill>
                  <a:srgbClr val="14161A"/>
                </a:solidFill>
                <a:latin typeface="IBM Plex Sans"/>
              </a:rPr>
              <a:t>Graceful degradation: optional deps improve output, never crash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3D6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2487168"/>
            <a:ext cx="1097280" cy="45720"/>
          </a:xfrm>
          <a:prstGeom prst="rect">
            <a:avLst/>
          </a:prstGeom>
          <a:solidFill>
            <a:srgbClr val="2F62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0"/>
            <a:ext cx="11094415" cy="100584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3600" b="1" i="0">
                <a:solidFill>
                  <a:srgbClr val="F7F8FA"/>
                </a:solidFill>
                <a:latin typeface="IBM Plex Sans"/>
              </a:rPr>
              <a:t>Open Source, Local-First, Production-Ready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886200"/>
            <a:ext cx="11094415" cy="54864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1800" b="0" i="0">
                <a:solidFill>
                  <a:srgbClr val="F7F8FA"/>
                </a:solidFill>
                <a:latin typeface="IBM Plex Sans"/>
              </a:rPr>
              <a:t>MIT License â€¢ Python 0.2.0 â€¢ 658+ Tests â€¢ Full-Stack SPA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