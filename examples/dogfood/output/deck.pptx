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docloom. This deck is authored using docloom itself—a dogfood test. We're going to walk through the problem we solve, the architecture, and how you can use it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problem: LLMs are good at generating text, but not at producing structured output that renders correctly every time. We needed a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insight: put quality gates in the right place. Validate early, let the linter help the model correct itself, then render deterministically.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Determinism as a headline: the same IR plus the same theme always produces the same file, byte for byte, so you can regenerate anytime with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flow: sources come in, get ingested and embedded, retrieval feeds grounded generation, the IR is validated, linted, and rendered. No hand-placed coordinates—the renderer owns the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as a horizontal step band: ingest, retrieve, generate, lint, render. Each stage hands validated data to the next, with no manual formatting in between.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Scale and scope: 14 block types cover everything from paragraphs to native charts to coordinate-free diagrams. 658 passing tests keep it all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IR, six completely different renderers. Each owns its own coordinates and styling. Charts in PPTX are native editable objects, not rasterized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block type is a typed, validated node. Grouped into families here as mini-cards: text, tables, stats, diagrams, and code all share the same IR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studio brings it all together: import sources, chat with them, generate artifacts. Everything works offline with a local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Quality is not an afterthought. Every diagram label is tested for legibility. PPTX text is actually measured, not guessed.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studio is designed for privacy and safety. You own your data. There's no third-party account required, no API keys sent to the cloud unless you choose.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Getting started is simple. One launcher script handles everything. The first visit registers a local account; everything stays in your data directory.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Fully configurable. Switch providers in the UI without restarting. Add Postgres for multi-node deployments. All secrets are encrypted at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principles drive every architectural decision. Schema validation prevents entire classes of bugs. Determinism means you can regenerate anytime and get the same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04823"/>
            <a:ext cx="128016" cy="3840480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62024"/>
            <a:ext cx="10637215" cy="21132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6400" b="1" i="0">
                <a:solidFill>
                  <a:srgbClr val="14161A"/>
                </a:solidFill>
                <a:latin typeface="IBM Plex Sans"/>
              </a:rPr>
              <a:t>docloom: LLM to Documents, Instantly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575304"/>
            <a:ext cx="10637215" cy="4947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000" b="0" i="0">
                <a:solidFill>
                  <a:srgbClr val="5E6B7A"/>
                </a:solidFill>
                <a:latin typeface="IBM Plex Sans"/>
              </a:rPr>
              <a:t>Validated IR + Deterministic Renderers = 6 Native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527296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400" b="0" i="0">
                <a:solidFill>
                  <a:srgbClr val="5E6B7A"/>
                </a:solidFill>
                <a:latin typeface="IBM Plex Sans"/>
              </a:rPr>
              <a:t>docloom project  · 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000" b="1" i="0">
                <a:solidFill>
                  <a:srgbClr val="14161A"/>
                </a:solidFill>
                <a:latin typeface="IBM Plex Sans"/>
              </a:rPr>
              <a:t>From Raw LLM Output to Production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097280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37666"/>
            <a:ext cx="11094415" cy="192087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LLM outputs are unstructured and unpredictable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Manual formatting is error-prone and time-consuming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Renderers need consistent, validated input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Quality checks should happen before any file is written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Users need native, editable formats—not rasterized images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000" b="1" i="0">
                <a:solidFill>
                  <a:srgbClr val="14161A"/>
                </a:solidFill>
                <a:latin typeface="IBM Plex Sans"/>
              </a:rPr>
              <a:t>Validated IR, Deterministic Renderers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097280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68592"/>
            <a:ext cx="11094415" cy="153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LLM emits schema-validated JSON (Pydantic IR)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Deterministic linter checks layout, citations, contrast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Findings loop back to model for self-correction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Deterministic renderers: same IR = same output, always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951596"/>
            <a:ext cx="9430252" cy="1058037"/>
          </a:xfrm>
          <a:prstGeom prst="rect">
            <a:avLst/>
          </a:prstGeom>
          <a:solidFill>
            <a:srgbClr val="D9D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951596"/>
            <a:ext cx="91440" cy="1058037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4171052"/>
            <a:ext cx="8899900" cy="61912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875" b="1" i="0">
                <a:solidFill>
                  <a:srgbClr val="14161A"/>
                </a:solidFill>
                <a:latin typeface="IBM Plex Sans"/>
              </a:rPr>
              <a:t>The IR is deliberately non-recursive with plain tagged unions—shaped to survive real LLM structured-output constraints.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000" b="1" i="0">
                <a:solidFill>
                  <a:srgbClr val="14161A"/>
                </a:solidFill>
                <a:latin typeface="IBM Plex Sans"/>
              </a:rPr>
              <a:t>Deliver the same file on every render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097280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3853"/>
            <a:ext cx="11094415" cy="24765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5000" b="1" i="0">
                <a:solidFill>
                  <a:srgbClr val="1F3D63"/>
                </a:solidFill>
                <a:latin typeface="IBM Plex Sans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810353"/>
            <a:ext cx="11094415" cy="37033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800" b="0" i="0">
                <a:solidFill>
                  <a:srgbClr val="5E6B7A"/>
                </a:solidFill>
                <a:latin typeface="IBM Plex Sans"/>
              </a:rPr>
              <a:t>Byte-identical renders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000" b="1" i="0">
                <a:solidFill>
                  <a:srgbClr val="14161A"/>
                </a:solidFill>
                <a:latin typeface="IBM Plex Sans"/>
              </a:rPr>
              <a:t>docloom architecture, end to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097280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docloom:diagram:anon:9bd9a0f4086a" descr="docloom architecture (full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05179"/>
            <a:ext cx="11094415" cy="35363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8099"/>
            <a:ext cx="11094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E6B7A"/>
                </a:solidFill>
                <a:latin typeface="IBM Plex Sans"/>
              </a:rPr>
              <a:t>The full studio + engine architecture: auth, retrieval, jobs, generation, versioned artifacts, and deterministic rendering.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5571"/>
            <a:ext cx="11094415" cy="9220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600"/>
              </a:spcAft>
            </a:pPr>
            <a:r>
              <a:rPr sz="1400">
                <a:solidFill>
                  <a:srgbClr val="1F3D63"/>
                </a:solidFill>
                <a:latin typeface="IBM Plex Sans"/>
              </a:rPr>
              <a:t>•  </a:t>
            </a:r>
            <a:r>
              <a:rPr sz="1400" b="0" i="0">
                <a:solidFill>
                  <a:srgbClr val="14161A"/>
                </a:solidFill>
                <a:latin typeface="IBM Plex Sans"/>
              </a:rPr>
              <a:t>Sources are chunked, embedded, and ranked, so only the most relevant evidence reaches the model</a:t>
            </a:r>
          </a:p>
          <a:p>
            <a:pPr marL="320040" indent="-228600">
              <a:spcAft>
                <a:spcPts val="600"/>
              </a:spcAft>
            </a:pPr>
            <a:r>
              <a:rPr sz="1400">
                <a:solidFill>
                  <a:srgbClr val="1F3D63"/>
                </a:solidFill>
                <a:latin typeface="IBM Plex Sans"/>
              </a:rPr>
              <a:t>•  </a:t>
            </a:r>
            <a:r>
              <a:rPr sz="1400" b="0" i="0">
                <a:solidFill>
                  <a:srgbClr val="14161A"/>
                </a:solidFill>
                <a:latin typeface="IBM Plex Sans"/>
              </a:rPr>
              <a:t>The model emits validated IR, never files; the linter checks layout and citations before any render</a:t>
            </a:r>
          </a:p>
          <a:p>
            <a:pPr marL="320040" indent="-228600">
              <a:spcAft>
                <a:spcPts val="600"/>
              </a:spcAft>
            </a:pPr>
            <a:r>
              <a:rPr sz="1400">
                <a:solidFill>
                  <a:srgbClr val="1F3D63"/>
                </a:solidFill>
                <a:latin typeface="IBM Plex Sans"/>
              </a:rPr>
              <a:t>•  </a:t>
            </a:r>
            <a:r>
              <a:rPr sz="1400" b="0" i="0">
                <a:solidFill>
                  <a:srgbClr val="14161A"/>
                </a:solidFill>
                <a:latin typeface="IBM Plex Sans"/>
              </a:rPr>
              <a:t>Deterministic renderers turn one IR into all six formats with no lossy conversion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000" b="1" i="0">
                <a:solidFill>
                  <a:srgbClr val="14161A"/>
                </a:solidFill>
                <a:latin typeface="IBM Plex Sans"/>
              </a:rPr>
              <a:t>Follow sources from ingest to shipped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097280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58081" y="3501237"/>
            <a:ext cx="8875532" cy="18288"/>
          </a:xfrm>
          <a:prstGeom prst="rect">
            <a:avLst/>
          </a:prstGeom>
          <a:solidFill>
            <a:srgbClr val="6D8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39209" y="3391509"/>
            <a:ext cx="237744" cy="237744"/>
          </a:xfrm>
          <a:prstGeom prst="ellipse">
            <a:avLst/>
          </a:prstGeom>
          <a:solidFill>
            <a:srgbClr val="2F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080613"/>
            <a:ext cx="2218883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1" i="0">
                <a:solidFill>
                  <a:srgbClr val="2F62A0"/>
                </a:solidFill>
                <a:latin typeface="IBM Plex Sa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3" y="3738981"/>
            <a:ext cx="2109155" cy="93268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260" b="0" i="0">
                <a:solidFill>
                  <a:srgbClr val="14161A"/>
                </a:solidFill>
                <a:latin typeface="IBM Plex Sans"/>
              </a:rPr>
              <a:t>Ingest sources</a:t>
            </a:r>
          </a:p>
        </p:txBody>
      </p:sp>
      <p:sp>
        <p:nvSpPr>
          <p:cNvPr id="8" name="Oval 7"/>
          <p:cNvSpPr/>
          <p:nvPr/>
        </p:nvSpPr>
        <p:spPr>
          <a:xfrm>
            <a:off x="3758092" y="3391509"/>
            <a:ext cx="237744" cy="237744"/>
          </a:xfrm>
          <a:prstGeom prst="ellipse">
            <a:avLst/>
          </a:prstGeom>
          <a:solidFill>
            <a:srgbClr val="2F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67523" y="3080613"/>
            <a:ext cx="2218883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1" i="0">
                <a:solidFill>
                  <a:srgbClr val="2F62A0"/>
                </a:solidFill>
                <a:latin typeface="IBM Plex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387" y="3738981"/>
            <a:ext cx="2109155" cy="93268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260" b="0" i="0">
                <a:solidFill>
                  <a:srgbClr val="14161A"/>
                </a:solidFill>
                <a:latin typeface="IBM Plex Sans"/>
              </a:rPr>
              <a:t>Retrieve evidence</a:t>
            </a:r>
          </a:p>
        </p:txBody>
      </p:sp>
      <p:sp>
        <p:nvSpPr>
          <p:cNvPr id="11" name="Oval 10"/>
          <p:cNvSpPr/>
          <p:nvPr/>
        </p:nvSpPr>
        <p:spPr>
          <a:xfrm>
            <a:off x="5976975" y="3391509"/>
            <a:ext cx="237744" cy="237744"/>
          </a:xfrm>
          <a:prstGeom prst="ellipse">
            <a:avLst/>
          </a:prstGeom>
          <a:solidFill>
            <a:srgbClr val="2F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6406" y="3080613"/>
            <a:ext cx="2218883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1" i="0">
                <a:solidFill>
                  <a:srgbClr val="2F62A0"/>
                </a:solidFill>
                <a:latin typeface="IBM Plex San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1270" y="3738981"/>
            <a:ext cx="2109155" cy="93268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260" b="0" i="0">
                <a:solidFill>
                  <a:srgbClr val="14161A"/>
                </a:solidFill>
                <a:latin typeface="IBM Plex Sans"/>
              </a:rPr>
              <a:t>Generate IR</a:t>
            </a:r>
          </a:p>
        </p:txBody>
      </p:sp>
      <p:sp>
        <p:nvSpPr>
          <p:cNvPr id="14" name="Oval 13"/>
          <p:cNvSpPr/>
          <p:nvPr/>
        </p:nvSpPr>
        <p:spPr>
          <a:xfrm>
            <a:off x="8195858" y="3391509"/>
            <a:ext cx="237744" cy="237744"/>
          </a:xfrm>
          <a:prstGeom prst="ellipse">
            <a:avLst/>
          </a:prstGeom>
          <a:solidFill>
            <a:srgbClr val="2F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289" y="3080613"/>
            <a:ext cx="2218883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1" i="0">
                <a:solidFill>
                  <a:srgbClr val="2F62A0"/>
                </a:solidFill>
                <a:latin typeface="IBM Plex San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153" y="3738981"/>
            <a:ext cx="2109155" cy="93268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260" b="0" i="0">
                <a:solidFill>
                  <a:srgbClr val="14161A"/>
                </a:solidFill>
                <a:latin typeface="IBM Plex Sans"/>
              </a:rPr>
              <a:t>Lint findings</a:t>
            </a:r>
          </a:p>
        </p:txBody>
      </p:sp>
      <p:sp>
        <p:nvSpPr>
          <p:cNvPr id="17" name="Oval 16"/>
          <p:cNvSpPr/>
          <p:nvPr/>
        </p:nvSpPr>
        <p:spPr>
          <a:xfrm>
            <a:off x="10414741" y="3391509"/>
            <a:ext cx="237744" cy="237744"/>
          </a:xfrm>
          <a:prstGeom prst="ellipse">
            <a:avLst/>
          </a:prstGeom>
          <a:solidFill>
            <a:srgbClr val="2F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24172" y="3080613"/>
            <a:ext cx="2218883" cy="2743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400" b="1" i="0">
                <a:solidFill>
                  <a:srgbClr val="2F62A0"/>
                </a:solidFill>
                <a:latin typeface="IBM Plex San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9036" y="3738981"/>
            <a:ext cx="2109155" cy="93268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/>
            <a:r>
              <a:rPr sz="1260" b="0" i="0">
                <a:solidFill>
                  <a:srgbClr val="14161A"/>
                </a:solidFill>
                <a:latin typeface="IBM Plex Sans"/>
              </a:rPr>
              <a:t>Render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000" b="1" i="0">
                <a:solidFill>
                  <a:srgbClr val="14161A"/>
                </a:solidFill>
                <a:latin typeface="IBM Plex Sans"/>
              </a:rPr>
              <a:t>Count What Matters: 14 Block Types, 6 Formats, 658+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097280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117189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281781"/>
            <a:ext cx="1706819" cy="4876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769461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Block Types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3243" y="3117189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7835" y="3281781"/>
            <a:ext cx="1706819" cy="4876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7835" y="3769461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Output Formats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7846" y="3117189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2438" y="3281781"/>
            <a:ext cx="1706819" cy="4876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2438" y="3769461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Slide Layouts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2449" y="3117189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7041" y="3281781"/>
            <a:ext cx="1706819" cy="4876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041" y="3769461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Diagram Node 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7052" y="3117189"/>
            <a:ext cx="2036003" cy="1280160"/>
          </a:xfrm>
          <a:prstGeom prst="round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71644" y="3281781"/>
            <a:ext cx="1706819" cy="4876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400" b="1" i="0">
                <a:solidFill>
                  <a:srgbClr val="1F3D63"/>
                </a:solidFill>
                <a:latin typeface="IBM Plex Sans"/>
              </a:rPr>
              <a:t>658+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1644" y="3769461"/>
            <a:ext cx="1706819" cy="23774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00" b="0" i="0">
                <a:solidFill>
                  <a:srgbClr val="5E6B7A"/>
                </a:solidFill>
                <a:latin typeface="IBM Plex Sans"/>
              </a:rPr>
              <a:t>Tests (Passing)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000" b="1" i="0">
                <a:solidFill>
                  <a:srgbClr val="14161A"/>
                </a:solidFill>
                <a:latin typeface="IBM Plex Sans"/>
              </a:rPr>
              <a:t>Generate Six Native Formats from One IR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097280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4788"/>
            <a:ext cx="11094415" cy="23050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PPTX: native editable charts, autofit text, native shapes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DOCX: hardened tables, repeating headers, fixed column widths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XLSX: typed cells, formulas, number formats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PDF: Typst compiled in-process, no LaTeX needed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HTML: semantic markup with WCAG 2.x contrast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Markdown: clean, readable prose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000" b="1" i="0">
                <a:solidFill>
                  <a:srgbClr val="14161A"/>
                </a:solidFill>
                <a:latin typeface="IBM Plex Sans"/>
              </a:rPr>
              <a:t>Build documents from families of typed blocks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097280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711904"/>
            <a:ext cx="3600602" cy="804799"/>
          </a:xfrm>
          <a:prstGeom prst="roundRect">
            <a:avLst>
              <a:gd name="adj" fmla="val 10000"/>
            </a:avLst>
          </a:prstGeom>
          <a:solidFill>
            <a:srgbClr val="EAEDF1"/>
          </a:solidFill>
          <a:ln w="9525">
            <a:solidFill>
              <a:srgbClr val="6D8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4944" y="2858208"/>
            <a:ext cx="164592" cy="164592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3150816"/>
            <a:ext cx="3307994" cy="21958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30" b="1" i="0">
                <a:solidFill>
                  <a:srgbClr val="14161A"/>
                </a:solidFill>
                <a:latin typeface="IBM Plex Sans"/>
              </a:rPr>
              <a:t>Text &amp; headings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5546" y="2711904"/>
            <a:ext cx="3600602" cy="804799"/>
          </a:xfrm>
          <a:prstGeom prst="roundRect">
            <a:avLst>
              <a:gd name="adj" fmla="val 10000"/>
            </a:avLst>
          </a:prstGeom>
          <a:solidFill>
            <a:srgbClr val="EAEDF1"/>
          </a:solidFill>
          <a:ln w="9525">
            <a:solidFill>
              <a:srgbClr val="6D8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41850" y="2858208"/>
            <a:ext cx="164592" cy="164592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1850" y="3150816"/>
            <a:ext cx="3307994" cy="21958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30" b="1" i="0">
                <a:solidFill>
                  <a:srgbClr val="14161A"/>
                </a:solidFill>
                <a:latin typeface="IBM Plex Sans"/>
              </a:rPr>
              <a:t>Tables &amp; charts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2452" y="2711904"/>
            <a:ext cx="3600602" cy="804799"/>
          </a:xfrm>
          <a:prstGeom prst="roundRect">
            <a:avLst>
              <a:gd name="adj" fmla="val 10000"/>
            </a:avLst>
          </a:prstGeom>
          <a:solidFill>
            <a:srgbClr val="EAEDF1"/>
          </a:solidFill>
          <a:ln w="9525">
            <a:solidFill>
              <a:srgbClr val="6D8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8756" y="2858208"/>
            <a:ext cx="164592" cy="164592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8756" y="3150816"/>
            <a:ext cx="3307994" cy="21958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30" b="1" i="0">
                <a:solidFill>
                  <a:srgbClr val="14161A"/>
                </a:solidFill>
                <a:latin typeface="IBM Plex Sans"/>
              </a:rPr>
              <a:t>Stats &amp; callouts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63007"/>
            <a:ext cx="3600602" cy="804799"/>
          </a:xfrm>
          <a:prstGeom prst="roundRect">
            <a:avLst>
              <a:gd name="adj" fmla="val 10000"/>
            </a:avLst>
          </a:prstGeom>
          <a:solidFill>
            <a:srgbClr val="EAEDF1"/>
          </a:solidFill>
          <a:ln w="9525">
            <a:solidFill>
              <a:srgbClr val="6D8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" y="3809311"/>
            <a:ext cx="164592" cy="164592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4101919"/>
            <a:ext cx="3307994" cy="21958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30" b="1" i="0">
                <a:solidFill>
                  <a:srgbClr val="14161A"/>
                </a:solidFill>
                <a:latin typeface="IBM Plex Sans"/>
              </a:rPr>
              <a:t>Diagrams &amp; images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5546" y="3663007"/>
            <a:ext cx="3600602" cy="804799"/>
          </a:xfrm>
          <a:prstGeom prst="roundRect">
            <a:avLst>
              <a:gd name="adj" fmla="val 10000"/>
            </a:avLst>
          </a:prstGeom>
          <a:solidFill>
            <a:srgbClr val="EAEDF1"/>
          </a:solidFill>
          <a:ln w="9525">
            <a:solidFill>
              <a:srgbClr val="6D8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41850" y="3809311"/>
            <a:ext cx="164592" cy="164592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1850" y="4101919"/>
            <a:ext cx="3307994" cy="219583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330" b="1" i="0">
                <a:solidFill>
                  <a:srgbClr val="14161A"/>
                </a:solidFill>
                <a:latin typeface="IBM Plex Sans"/>
              </a:rPr>
              <a:t>Code &amp; quotes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000" b="1" i="0">
                <a:solidFill>
                  <a:srgbClr val="14161A"/>
                </a:solidFill>
                <a:latin typeface="IBM Plex Sans"/>
              </a:rPr>
              <a:t>Turn Source Data into Grounded Artifacts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097280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86831"/>
            <a:ext cx="5318607" cy="35083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125" b="1" i="0">
                <a:solidFill>
                  <a:srgbClr val="14161A"/>
                </a:solidFill>
                <a:latin typeface="IBM Plex Sans"/>
              </a:rPr>
              <a:t>Add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0821"/>
            <a:ext cx="5318607" cy="153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Upload file, URL, or paste text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Free web research agent included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Hybrid BM25 + dense retrieval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Automatic chunking at 1000 chars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2586831"/>
            <a:ext cx="5318607" cy="35083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2125" b="1" i="0">
                <a:solidFill>
                  <a:srgbClr val="14161A"/>
                </a:solidFill>
                <a:latin typeface="IBM Plex Sans"/>
              </a:rPr>
              <a:t>Generate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3010821"/>
            <a:ext cx="5318607" cy="14414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Chat with grounded, cited answers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5 one-click guides (briefing, FAQ, timeline)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6 artifact kinds: deck, doc, sheet, diagram, infographic, podcast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000" b="1" i="0">
                <a:solidFill>
                  <a:srgbClr val="14161A"/>
                </a:solidFill>
                <a:latin typeface="IBM Plex Sans"/>
              </a:rPr>
              <a:t>Keep Text Legible at Any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097280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95713"/>
            <a:ext cx="11094415" cy="192087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Measured autofit: real text extents via FreeType against actual fonts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WCAG 2.x contrast ratio checking: 4.5:1 for normal text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Diagram legibility: labels never truncated, step down detail instead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Table hardening: fixed widths, repeating headers, split prevention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Geometric QA: off-slide detection, overlap checks, font sprawl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62892"/>
            <a:ext cx="9430252" cy="1058037"/>
          </a:xfrm>
          <a:prstGeom prst="rect">
            <a:avLst/>
          </a:prstGeom>
          <a:solidFill>
            <a:srgbClr val="DB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4162892"/>
            <a:ext cx="91440" cy="1058037"/>
          </a:xfrm>
          <a:prstGeom prst="rect">
            <a:avLst/>
          </a:prstGeom>
          <a:solidFill>
            <a:srgbClr val="2F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4382348"/>
            <a:ext cx="8899900" cy="619125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875" b="1" i="0">
                <a:solidFill>
                  <a:srgbClr val="14161A"/>
                </a:solidFill>
                <a:latin typeface="IBM Plex Sans"/>
              </a:rPr>
              <a:t>Design principle: lint before render. Only error severity blocks a render; warnings help improve.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000" b="1" i="0">
                <a:solidFill>
                  <a:srgbClr val="14161A"/>
                </a:solidFill>
                <a:latin typeface="IBM Plex Sans"/>
              </a:rPr>
              <a:t>Local-First, Offline-Ready, Multi-Tenant-Safe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097280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37666"/>
            <a:ext cx="11094415" cy="192087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Runs fully offline against a local model (ollama, llama.cpp, etc.)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SQLite default, Postgres for scale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Session tokens stored only as SHA-256 hashes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Cross-tenant access returns 404, not 403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Secrets encrypted at rest with Fernet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000" b="1" i="0">
                <a:solidFill>
                  <a:srgbClr val="14161A"/>
                </a:solidFill>
                <a:latin typeface="IBM Plex Sans"/>
              </a:rPr>
              <a:t>One Command to Launch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097280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95256"/>
            <a:ext cx="11094415" cy="32277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954" b="1" i="0">
                <a:solidFill>
                  <a:srgbClr val="14161A"/>
                </a:solidFill>
                <a:latin typeface="IBM Plex Sans"/>
              </a:rPr>
              <a:t>Windows (PowerShell)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91178"/>
            <a:ext cx="11094415" cy="417576"/>
          </a:xfrm>
          <a:prstGeom prst="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600906"/>
            <a:ext cx="10874959" cy="198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200">
                <a:solidFill>
                  <a:srgbClr val="14161A"/>
                </a:solidFill>
                <a:latin typeface="Consolas"/>
              </a:rPr>
              <a:t>studio.ps1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55058"/>
            <a:ext cx="11094415" cy="32277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954" b="1" i="0">
                <a:solidFill>
                  <a:srgbClr val="14161A"/>
                </a:solidFill>
                <a:latin typeface="IBM Plex Sans"/>
              </a:rPr>
              <a:t>macOS / Linux / Git Bash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450981"/>
            <a:ext cx="11094415" cy="417576"/>
          </a:xfrm>
          <a:prstGeom prst="rect">
            <a:avLst/>
          </a:prstGeom>
          <a:solidFill>
            <a:srgbClr val="EB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60709"/>
            <a:ext cx="10874959" cy="19812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200">
                <a:solidFill>
                  <a:srgbClr val="14161A"/>
                </a:solidFill>
                <a:latin typeface="Consolas"/>
              </a:rPr>
              <a:t>studio.sh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14861"/>
            <a:ext cx="11094415" cy="106032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600"/>
              </a:spcAft>
            </a:pPr>
            <a:r>
              <a:rPr sz="1609">
                <a:solidFill>
                  <a:srgbClr val="1F3D63"/>
                </a:solidFill>
                <a:latin typeface="IBM Plex Sans"/>
              </a:rPr>
              <a:t>•  </a:t>
            </a:r>
            <a:r>
              <a:rPr sz="1609" b="0" i="0">
                <a:solidFill>
                  <a:srgbClr val="14161A"/>
                </a:solidFill>
                <a:latin typeface="IBM Plex Sans"/>
              </a:rPr>
              <a:t>Installs dependencies, builds frontend, opens browser</a:t>
            </a:r>
          </a:p>
          <a:p>
            <a:pPr marL="320040" indent="-228600">
              <a:spcAft>
                <a:spcPts val="600"/>
              </a:spcAft>
            </a:pPr>
            <a:r>
              <a:rPr sz="1609">
                <a:solidFill>
                  <a:srgbClr val="1F3D63"/>
                </a:solidFill>
                <a:latin typeface="IBM Plex Sans"/>
              </a:rPr>
              <a:t>•  </a:t>
            </a:r>
            <a:r>
              <a:rPr sz="1609" b="0" i="0">
                <a:solidFill>
                  <a:srgbClr val="14161A"/>
                </a:solidFill>
                <a:latin typeface="IBM Plex Sans"/>
              </a:rPr>
              <a:t>Default: http://127.0.0.1:8899</a:t>
            </a:r>
          </a:p>
          <a:p>
            <a:pPr marL="320040" indent="-228600">
              <a:spcAft>
                <a:spcPts val="600"/>
              </a:spcAft>
            </a:pPr>
            <a:r>
              <a:rPr sz="1609">
                <a:solidFill>
                  <a:srgbClr val="1F3D63"/>
                </a:solidFill>
                <a:latin typeface="IBM Plex Sans"/>
              </a:rPr>
              <a:t>•  </a:t>
            </a:r>
            <a:r>
              <a:rPr sz="1609" b="0" i="0">
                <a:solidFill>
                  <a:srgbClr val="14161A"/>
                </a:solidFill>
                <a:latin typeface="IBM Plex Sans"/>
              </a:rPr>
              <a:t>Prerequisites: uv, Node 22+, npm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000" b="1" i="0">
                <a:solidFill>
                  <a:srgbClr val="14161A"/>
                </a:solidFill>
                <a:latin typeface="IBM Plex Sans"/>
              </a:rPr>
              <a:t>Set Up Providers, Storage, and Secrets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097280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37666"/>
            <a:ext cx="11094415" cy="192087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Generation: ollama, llama-server, lmstudio, openai, anthropic, gemini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Storage: SQLite (default) or Postgres via DOCLOOM_DB_URL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Secrets: Fernet encryption, masked in API responses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Optional extras: [pdf,diagrams] for engine; [podcast,ingest] for studio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Settings resolve: per-user → global → built-in defaults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56692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000" b="1" i="0">
                <a:solidFill>
                  <a:srgbClr val="14161A"/>
                </a:solidFill>
                <a:latin typeface="IBM Plex Sans"/>
              </a:rPr>
              <a:t>Design Principles: Built for Reliability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42416"/>
            <a:ext cx="1097280" cy="25603"/>
          </a:xfrm>
          <a:prstGeom prst="rect">
            <a:avLst/>
          </a:prstGeom>
          <a:solidFill>
            <a:srgbClr val="1F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37666"/>
            <a:ext cx="11094415" cy="192087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Validated IR, not code: LLM output is data, never executable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Deterministic renderers: same input = same output, always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Lint before render: findings can loop back to model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Nothing authored is lost: labels step down, never truncate</a:t>
            </a:r>
          </a:p>
          <a:p>
            <a:pPr marL="320040" indent="-228600">
              <a:spcAft>
                <a:spcPts val="600"/>
              </a:spcAft>
            </a:pPr>
            <a:r>
              <a:rPr sz="1750">
                <a:solidFill>
                  <a:srgbClr val="1F3D63"/>
                </a:solidFill>
                <a:latin typeface="IBM Plex Sans"/>
              </a:rPr>
              <a:t>•  </a:t>
            </a:r>
            <a:r>
              <a:rPr sz="1750" b="0" i="0">
                <a:solidFill>
                  <a:srgbClr val="14161A"/>
                </a:solidFill>
                <a:latin typeface="IBM Plex Sans"/>
              </a:rPr>
              <a:t>Graceful degradation: optional deps improve output, never crash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19695" y="274320"/>
            <a:ext cx="4023360" cy="63093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r"/>
            <a:r>
              <a:rPr sz="15000" b="1" i="0">
                <a:solidFill>
                  <a:srgbClr val="3C5677"/>
                </a:solidFill>
                <a:latin typeface="IBM Plex Sans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649474"/>
            <a:ext cx="1097280" cy="45720"/>
          </a:xfrm>
          <a:prstGeom prst="rect">
            <a:avLst/>
          </a:prstGeom>
          <a:solidFill>
            <a:srgbClr val="2F6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951226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3600" b="1" i="0">
                <a:solidFill>
                  <a:srgbClr val="F7F8FA"/>
                </a:solidFill>
                <a:latin typeface="IBM Plex Sans"/>
              </a:rPr>
              <a:t>Open Source, Local-First, Production-Ready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74186"/>
            <a:ext cx="11094415" cy="43434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800" b="0" i="0">
                <a:solidFill>
                  <a:srgbClr val="F7F8FA"/>
                </a:solidFill>
                <a:latin typeface="IBM Plex Sans"/>
              </a:rPr>
              <a:t>MIT License • Python 0.2.0 • 658+ Tests • Full-Stack SPA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