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031488"/>
            <a:ext cx="12191695" cy="2826512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305808"/>
            <a:ext cx="11094415" cy="5943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7F8FA"/>
                </a:solidFill>
                <a:latin typeface="IBM Plex Sans"/>
              </a:rPr>
              <a:t>LLM structured output becomes finished documents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73319"/>
            <a:ext cx="11094415" cy="40335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0" i="0">
                <a:solidFill>
                  <a:srgbClr val="EBEEF3"/>
                </a:solidFill>
                <a:latin typeface="IBM Plex Sans"/>
              </a:rPr>
              <a:t>docloom: engine + studio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9695" y="274320"/>
            <a:ext cx="4023360" cy="63093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5000" b="1" i="0">
                <a:solidFill>
                  <a:srgbClr val="3C5677"/>
                </a:solidFill>
                <a:latin typeface="IBM Plex Sans"/>
              </a:rP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2466594"/>
            <a:ext cx="1097280" cy="45720"/>
          </a:xfrm>
          <a:prstGeom prst="rect">
            <a:avLst/>
          </a:prstGeom>
          <a:solidFill>
            <a:srgbClr val="2F6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68346"/>
            <a:ext cx="11094415" cy="11887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7F8FA"/>
                </a:solidFill>
                <a:latin typeface="IBM Plex Sans"/>
              </a:rPr>
              <a:t>The engine: validated IR → deterministic renderers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57065"/>
            <a:ext cx="11094415" cy="4343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800" b="0" i="0">
                <a:solidFill>
                  <a:srgbClr val="F7F8FA"/>
                </a:solidFill>
                <a:latin typeface="IBM Plex Sans"/>
              </a:rPr>
              <a:t>LLM emits JSON. Renderers consume it. Files ship guaranteed.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000" b="1" i="0">
                <a:solidFill>
                  <a:srgbClr val="14161A"/>
                </a:solidFill>
                <a:latin typeface="IBM Plex Sans"/>
              </a:rPr>
              <a:t>Render to six formats with one IR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097280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534482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699074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PowerPoint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186754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479362"/>
            <a:ext cx="170681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 b="0" i="0">
                <a:solidFill>
                  <a:srgbClr val="2F62A0"/>
                </a:solidFill>
                <a:latin typeface="IBM Plex Sans"/>
              </a:rPr>
              <a:t>native editable charts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3243" y="2534482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7835" y="2699074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Word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7835" y="3186754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DOCX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7835" y="3479362"/>
            <a:ext cx="170681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 b="0" i="0">
                <a:solidFill>
                  <a:srgbClr val="2F62A0"/>
                </a:solidFill>
                <a:latin typeface="IBM Plex Sans"/>
              </a:rPr>
              <a:t>hardened tables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7846" y="2534482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42438" y="2699074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Excel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42438" y="3186754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XLSX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42438" y="3479362"/>
            <a:ext cx="170681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 b="0" i="0">
                <a:solidFill>
                  <a:srgbClr val="2F62A0"/>
                </a:solidFill>
                <a:latin typeface="IBM Plex Sans"/>
              </a:rPr>
              <a:t>formulas &amp; typed cells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42449" y="2534482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07041" y="2699074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Typst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7041" y="3186754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PDF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07041" y="3479362"/>
            <a:ext cx="170681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 b="0" i="0">
                <a:solidFill>
                  <a:srgbClr val="2F62A0"/>
                </a:solidFill>
                <a:latin typeface="IBM Plex Sans"/>
              </a:rPr>
              <a:t>in-process compile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7052" y="2534482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71644" y="2699074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Web + Text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71644" y="3186754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HTML &amp; 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1644" y="3479362"/>
            <a:ext cx="1706819" cy="20116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200" b="0" i="0">
                <a:solidFill>
                  <a:srgbClr val="2F62A0"/>
                </a:solidFill>
                <a:latin typeface="IBM Plex Sans"/>
              </a:rPr>
              <a:t>portable export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960946"/>
            <a:ext cx="9430252" cy="723709"/>
          </a:xfrm>
          <a:prstGeom prst="rect">
            <a:avLst/>
          </a:prstGeom>
          <a:solidFill>
            <a:srgbClr val="DB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960946"/>
            <a:ext cx="91440" cy="723709"/>
          </a:xfrm>
          <a:prstGeom prst="rect">
            <a:avLst/>
          </a:prstGeom>
          <a:solidFill>
            <a:srgbClr val="2F6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180402"/>
            <a:ext cx="8899900" cy="28479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725" b="1" i="0">
                <a:solidFill>
                  <a:srgbClr val="14161A"/>
                </a:solidFill>
                <a:latin typeface="IBM Plex Sans"/>
              </a:rPr>
              <a:t>Deterministic. No randomness. Byte-reproducible.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000" b="1" i="0">
                <a:solidFill>
                  <a:srgbClr val="14161A"/>
                </a:solidFill>
                <a:latin typeface="IBM Plex Sans"/>
              </a:rPr>
              <a:t>Use 14 block types across three document kinds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097280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117189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3281781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pPr>
              <a:lnSpc>
                <a:spcPct val="80000"/>
              </a:lnSpc>
            </a:pPr>
            <a:r>
              <a:rPr sz="2000" b="1" i="0">
                <a:solidFill>
                  <a:srgbClr val="1F3D63"/>
                </a:solidFill>
                <a:latin typeface="IBM Plex Sans"/>
              </a:rPr>
              <a:t>DOCX / PDF / HTML / 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769461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Reports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3243" y="3117189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7835" y="3281781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PPTX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835" y="3769461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Decks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7846" y="3117189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2438" y="3281781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XLSX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2438" y="3769461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Workbooks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42449" y="3117189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07041" y="3281781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14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041" y="3769461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Block types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7052" y="3117189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71644" y="3281781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r>
              <a:rPr sz="2250" b="1" i="0">
                <a:solidFill>
                  <a:srgbClr val="1F3D63"/>
                </a:solidFill>
                <a:latin typeface="IBM Plex Sans"/>
              </a:rPr>
              <a:t>8 slide modes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1644" y="3769461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Layouts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000" b="1" i="0">
                <a:solidFill>
                  <a:srgbClr val="14161A"/>
                </a:solidFill>
                <a:latin typeface="IBM Plex Sans"/>
              </a:rPr>
              <a:t>Lint before render, then loop findings 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097280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40632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570915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pPr>
              <a:lnSpc>
                <a:spcPct val="80000"/>
              </a:lnSpc>
            </a:pPr>
            <a:r>
              <a:rPr sz="2000" b="1" i="0">
                <a:solidFill>
                  <a:srgbClr val="1F3D63"/>
                </a:solidFill>
                <a:latin typeface="IBM Plex Sans"/>
              </a:rPr>
              <a:t>character &amp; physical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05859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Deck overflow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3243" y="240632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7835" y="2570915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pPr>
              <a:lnSpc>
                <a:spcPct val="80000"/>
              </a:lnSpc>
            </a:pPr>
            <a:r>
              <a:rPr sz="2000" b="1" i="0">
                <a:solidFill>
                  <a:srgbClr val="1F3D63"/>
                </a:solidFill>
                <a:latin typeface="IBM Plex Sans"/>
              </a:rPr>
              <a:t>max 7, ≤130 chars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835" y="305859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Slide bullets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7846" y="240632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2438" y="2570915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max 60 chars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2438" y="305859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Titles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42449" y="240632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07041" y="2570915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pPr>
              <a:lnSpc>
                <a:spcPct val="80000"/>
              </a:lnSpc>
            </a:pPr>
            <a:r>
              <a:rPr sz="2000" b="1" i="0">
                <a:solidFill>
                  <a:srgbClr val="1F3D63"/>
                </a:solidFill>
                <a:latin typeface="IBM Plex Sans"/>
              </a:rPr>
              <a:t>WCAG 2.x AA 4.5:1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041" y="305859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Contrast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7052" y="2406323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71644" y="2570915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pPr>
              <a:lnSpc>
                <a:spcPct val="80000"/>
              </a:lnSpc>
            </a:pPr>
            <a:r>
              <a:rPr sz="2000" b="1" i="0">
                <a:solidFill>
                  <a:srgbClr val="1F3D63"/>
                </a:solidFill>
                <a:latin typeface="IBM Plex Sans"/>
              </a:rPr>
              <a:t>every fact sourced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1644" y="3058595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Citations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32787"/>
            <a:ext cx="9430252" cy="1008507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832787"/>
            <a:ext cx="91440" cy="1008507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4052243"/>
            <a:ext cx="8899900" cy="56959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725" b="1" i="0">
                <a:solidFill>
                  <a:srgbClr val="14161A"/>
                </a:solidFill>
                <a:latin typeface="IBM Plex Sans"/>
              </a:rPr>
              <a:t>Only error-severity findings block render. Warnings surface quality signals for self-correction.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19695" y="274320"/>
            <a:ext cx="4023360" cy="6309360"/>
          </a:xfrm>
          <a:prstGeom prst="rect">
            <a:avLst/>
          </a:prstGeom>
          <a:noFill/>
        </p:spPr>
        <p:txBody>
          <a:bodyPr wrap="square" lIns="0" rIns="0" tIns="0" bIns="0" anchor="ctr">
            <a:normAutofit/>
          </a:bodyPr>
          <a:lstStyle/>
          <a:p>
            <a:pPr algn="r"/>
            <a:r>
              <a:rPr sz="15000" b="1" i="0">
                <a:solidFill>
                  <a:srgbClr val="3C5677"/>
                </a:solidFill>
                <a:latin typeface="IBM Plex Sans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2649474"/>
            <a:ext cx="1097280" cy="45720"/>
          </a:xfrm>
          <a:prstGeom prst="rect">
            <a:avLst/>
          </a:prstGeom>
          <a:solidFill>
            <a:srgbClr val="2F6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51226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600" b="1" i="0">
                <a:solidFill>
                  <a:srgbClr val="F7F8FA"/>
                </a:solidFill>
                <a:latin typeface="IBM Plex Sans"/>
              </a:rPr>
              <a:t>The studio: local-first AI document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74186"/>
            <a:ext cx="11094415" cy="4343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800" b="0" i="0">
                <a:solidFill>
                  <a:srgbClr val="F7F8FA"/>
                </a:solidFill>
                <a:latin typeface="IBM Plex Sans"/>
              </a:rPr>
              <a:t>NotebookLM crossed with Gamma. Runs offline. Fully open.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000" b="1" i="0">
                <a:solidFill>
                  <a:srgbClr val="14161A"/>
                </a:solidFill>
                <a:latin typeface="IBM Plex Sans"/>
              </a:rPr>
              <a:t>Generate six artifact kinds from one notebook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097280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2740536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905128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PPTX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392808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Decks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3243" y="2740536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7835" y="2905128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pPr>
              <a:lnSpc>
                <a:spcPct val="80000"/>
              </a:lnSpc>
            </a:pPr>
            <a:r>
              <a:rPr sz="2000" b="1" i="0">
                <a:solidFill>
                  <a:srgbClr val="1F3D63"/>
                </a:solidFill>
                <a:latin typeface="IBM Plex Sans"/>
              </a:rPr>
              <a:t>DOCX/PDF/HTML/MD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835" y="3392808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7846" y="2740536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2438" y="2905128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XLSX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2438" y="3392808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Spreadsheets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42449" y="2740536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07041" y="2905128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pPr>
              <a:lnSpc>
                <a:spcPct val="80000"/>
              </a:lnSpc>
            </a:pPr>
            <a:r>
              <a:rPr sz="2000" b="1" i="0">
                <a:solidFill>
                  <a:srgbClr val="1F3D63"/>
                </a:solidFill>
                <a:latin typeface="IBM Plex Sans"/>
              </a:rPr>
              <a:t>Diagram IR + draw.io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041" y="3392808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Diagrams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7052" y="2740536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71644" y="2905128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WAV audio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1644" y="3392808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Podcast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167000"/>
            <a:ext cx="11094415" cy="26581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09" b="0" i="0">
                <a:solidFill>
                  <a:srgbClr val="14161A"/>
                </a:solidFill>
                <a:latin typeface="IBM Plex Sans"/>
              </a:rPr>
              <a:t>All offline, fully local-first, no third-party account required.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000" b="1" i="0">
                <a:solidFill>
                  <a:srgbClr val="14161A"/>
                </a:solidFill>
                <a:latin typeface="IBM Plex Sans"/>
              </a:rPr>
              <a:t>Grounded retrieval and ranked synthesis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097280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349030"/>
            <a:ext cx="11094415" cy="26581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609" b="0" i="0">
                <a:solidFill>
                  <a:srgbClr val="14161A"/>
                </a:solidFill>
                <a:latin typeface="IBM Plex Sans"/>
              </a:rPr>
              <a:t>Hybrid dense + lexical retrieval: every answer cites where it came from.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61145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925737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pPr>
              <a:lnSpc>
                <a:spcPct val="80000"/>
              </a:lnSpc>
            </a:pPr>
            <a:r>
              <a:rPr sz="2000" b="1" i="0">
                <a:solidFill>
                  <a:srgbClr val="1F3D63"/>
                </a:solidFill>
                <a:latin typeface="IBM Plex Sans"/>
              </a:rPr>
              <a:t>cosine over embeddings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413417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Dense similarity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13243" y="2761145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7835" y="2925737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BM25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7835" y="3413417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Lexical rank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77846" y="2761145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42438" y="2925737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pPr>
              <a:lnSpc>
                <a:spcPct val="80000"/>
              </a:lnSpc>
            </a:pPr>
            <a:r>
              <a:rPr sz="1950" b="1" i="0">
                <a:solidFill>
                  <a:srgbClr val="1F3D63"/>
                </a:solidFill>
                <a:latin typeface="IBM Plex Sans"/>
              </a:rPr>
              <a:t>Reciprocal Rank Fusion (k=60)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2438" y="3413417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Fusion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42449" y="2761145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07041" y="2925737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12 chunks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7041" y="3413417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Evidence per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7052" y="2761145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71644" y="2925737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r>
              <a:rPr sz="2250" b="1" i="0">
                <a:solidFill>
                  <a:srgbClr val="1F3D63"/>
                </a:solidFill>
                <a:latin typeface="IBM Plex Sans"/>
              </a:rPr>
              <a:t>6 prior turns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1644" y="3413417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Chat history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187609"/>
            <a:ext cx="9430252" cy="723709"/>
          </a:xfrm>
          <a:prstGeom prst="rect">
            <a:avLst/>
          </a:prstGeom>
          <a:solidFill>
            <a:srgbClr val="DBE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187609"/>
            <a:ext cx="91440" cy="723709"/>
          </a:xfrm>
          <a:prstGeom prst="rect">
            <a:avLst/>
          </a:prstGeom>
          <a:solidFill>
            <a:srgbClr val="2F62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" y="4407065"/>
            <a:ext cx="8899900" cy="28479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725" b="1" i="0">
                <a:solidFill>
                  <a:srgbClr val="14161A"/>
                </a:solidFill>
                <a:latin typeface="IBM Plex Sans"/>
              </a:rPr>
              <a:t>Citations flow into the IR. No hallucinated sources. No unknown citations.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000" b="1" i="0">
                <a:solidFill>
                  <a:srgbClr val="14161A"/>
                </a:solidFill>
                <a:latin typeface="IBM Plex Sans"/>
              </a:rPr>
              <a:t>Achieve quality through rigorous testing and safeguards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097280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117189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3281781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658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769461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Engine tests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13243" y="3117189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7835" y="3281781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301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7835" y="3769461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Studio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7846" y="3117189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42438" y="3281781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2438" y="3769461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QA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42449" y="3117189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07041" y="3281781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400" b="1" i="0">
                <a:solidFill>
                  <a:srgbClr val="1F3D63"/>
                </a:solidFill>
                <a:latin typeface="IBM Plex Sans"/>
              </a:rPr>
              <a:t>50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041" y="3769461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Upload limit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7052" y="3117189"/>
            <a:ext cx="2036003" cy="1280160"/>
          </a:xfrm>
          <a:prstGeom prst="roundRect">
            <a:avLst/>
          </a:prstGeom>
          <a:solidFill>
            <a:srgbClr val="EB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71644" y="3281781"/>
            <a:ext cx="1706819" cy="487680"/>
          </a:xfrm>
          <a:prstGeom prst="rect">
            <a:avLst/>
          </a:prstGeom>
          <a:noFill/>
        </p:spPr>
        <p:txBody>
          <a:bodyPr wrap="square" lIns="0" rIns="0" tIns="0" bIns="0">
            <a:normAutofit fontScale="100000" lnSpcReduction="0"/>
          </a:bodyPr>
          <a:lstStyle/>
          <a:p>
            <a:r>
              <a:rPr sz="2100" b="1" i="0">
                <a:solidFill>
                  <a:srgbClr val="1F3D63"/>
                </a:solidFill>
                <a:latin typeface="IBM Plex Sans"/>
              </a:rPr>
              <a:t>Fernet at 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1644" y="3769461"/>
            <a:ext cx="1706819" cy="23774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300" b="0" i="0">
                <a:solidFill>
                  <a:srgbClr val="5E6B7A"/>
                </a:solidFill>
                <a:latin typeface="IBM Plex Sans"/>
              </a:rPr>
              <a:t>Encryption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94415" cy="56692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3000" b="1" i="0">
                <a:solidFill>
                  <a:srgbClr val="14161A"/>
                </a:solidFill>
                <a:latin typeface="IBM Plex Sans"/>
              </a:rPr>
              <a:t>Principles: why we built it this way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42416"/>
            <a:ext cx="1097280" cy="25603"/>
          </a:xfrm>
          <a:prstGeom prst="rect">
            <a:avLst/>
          </a:prstGeom>
          <a:solidFill>
            <a:srgbClr val="1F3D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441813"/>
            <a:ext cx="11094415" cy="28892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1750" b="0" i="0">
                <a:solidFill>
                  <a:srgbClr val="14161A"/>
                </a:solidFill>
                <a:latin typeface="IBM Plex Sans"/>
              </a:rPr>
              <a:t>Five commitments baked into the architecture: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877042"/>
            <a:ext cx="11094415" cy="192087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Validated IR, not code: LLM output is always a schema, never executable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Deterministic renderers: same IR + theme = same file, byte-for-byte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Lint before render: findings loop back, enabling self-correction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Nothing lost, nothing unreadable: labels never truncate, text always legible</a:t>
            </a:r>
          </a:p>
          <a:p>
            <a:pPr marL="320040" indent="-228600">
              <a:spcAft>
                <a:spcPts val="600"/>
              </a:spcAft>
            </a:pPr>
            <a:r>
              <a:rPr sz="1750">
                <a:solidFill>
                  <a:srgbClr val="1F3D63"/>
                </a:solidFill>
                <a:latin typeface="IBM Plex Sans"/>
              </a:rPr>
              <a:t>•  </a:t>
            </a:r>
            <a:r>
              <a:rPr sz="1750" b="0" i="0">
                <a:solidFill>
                  <a:srgbClr val="14161A"/>
                </a:solidFill>
                <a:latin typeface="IBM Plex Sans"/>
              </a:rPr>
              <a:t>Local-first, multi-tenant-safe: offline, encrypted, owned sessions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