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031488"/>
            <a:ext cx="12191695" cy="2826512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305808"/>
            <a:ext cx="11094415" cy="5943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LLM structured output becomes finished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73319"/>
            <a:ext cx="11094415" cy="40335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0" i="0">
                <a:solidFill>
                  <a:srgbClr val="EBEEF3"/>
                </a:solidFill>
                <a:latin typeface="IBM Plex Sans"/>
              </a:rPr>
              <a:t>docloom: engine + 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The engine: validated IR → deterministic renderers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800" b="0" i="0">
                <a:solidFill>
                  <a:srgbClr val="F7F8FA"/>
                </a:solidFill>
                <a:latin typeface="IBM Plex Sans"/>
              </a:rPr>
              <a:t>LLM emits JSON. Renderers consume it. Files ship guaranteed.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Render to six formats with one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PowerPoint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328614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native editable 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3243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7835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7835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DOCX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7835" y="3328614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hardened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7846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2438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2438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2438" y="3328614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formulas &amp; typed cells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2449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Typst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7041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7041" y="3328614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in-process compile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7052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1644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Web + 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1644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HTML &amp; 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1644" y="3328614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portable export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297878"/>
            <a:ext cx="11094415" cy="470662"/>
          </a:xfrm>
          <a:prstGeom prst="rect">
            <a:avLst/>
          </a:prstGeom>
          <a:solidFill>
            <a:srgbClr val="DB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297878"/>
            <a:ext cx="73152" cy="470662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25894"/>
            <a:ext cx="10765231" cy="2146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14161A"/>
                </a:solidFill>
                <a:latin typeface="IBM Plex Sans"/>
              </a:rPr>
              <a:t>Deterministic. No randomness. Byte-reproducible.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Use 14 block types across three document kinds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1600" b="1" i="0">
                <a:solidFill>
                  <a:srgbClr val="1F3D63"/>
                </a:solidFill>
                <a:latin typeface="IBM Plex Sans"/>
              </a:rPr>
              <a:t>DOCX / PDF / HTML / 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Reports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Workbooks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14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Block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2250" b="1" i="0">
                <a:solidFill>
                  <a:srgbClr val="1F3D63"/>
                </a:solidFill>
                <a:latin typeface="IBM Plex Sans"/>
              </a:rPr>
              <a:t>8 slide modes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Layouts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Lint before render, then loop findings 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1600" b="1" i="0">
                <a:solidFill>
                  <a:srgbClr val="1F3D63"/>
                </a:solidFill>
                <a:latin typeface="IBM Plex Sans"/>
              </a:rPr>
              <a:t>character &amp; physical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Deck overflow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1750" b="1" i="0">
                <a:solidFill>
                  <a:srgbClr val="1F3D63"/>
                </a:solidFill>
                <a:latin typeface="IBM Plex Sans"/>
              </a:rPr>
              <a:t>max 7, ≤130 chars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Slide bullets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max 60 chars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Titles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1750" b="1" i="0">
                <a:solidFill>
                  <a:srgbClr val="1F3D63"/>
                </a:solidFill>
                <a:latin typeface="IBM Plex Sans"/>
              </a:rPr>
              <a:t>WCAG 2.x AA 4.5:1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Contrast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414214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2578806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1650" b="1" i="0">
                <a:solidFill>
                  <a:srgbClr val="1F3D63"/>
                </a:solidFill>
                <a:latin typeface="IBM Plex Sans"/>
              </a:rPr>
              <a:t>every fact sourced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036006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Citations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97878"/>
            <a:ext cx="11094415" cy="470662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97878"/>
            <a:ext cx="73152" cy="470662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425894"/>
            <a:ext cx="10765231" cy="2146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14161A"/>
                </a:solidFill>
                <a:latin typeface="IBM Plex Sans"/>
              </a:rPr>
              <a:t>Only error-severity findings block render. Warnings surface quality signals for self-correction.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The studio: local-first AI document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800" b="0" i="0">
                <a:solidFill>
                  <a:srgbClr val="F7F8FA"/>
                </a:solidFill>
                <a:latin typeface="IBM Plex Sans"/>
              </a:rPr>
              <a:t>NotebookLM crossed with Gamma. Runs offline. Fully open.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Generate six artifact kinds from one notebook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51481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67940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PPTX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3660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51481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267940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1850" b="1" i="0">
                <a:solidFill>
                  <a:srgbClr val="1F3D63"/>
                </a:solidFill>
                <a:latin typeface="IBM Plex Sans"/>
              </a:rPr>
              <a:t>DOCX/PDF/HTML/MD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13660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51481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267940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13660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Spreadsheets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51481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267940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D2 + SVG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13660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Diagrams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51481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267940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WAV audio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13660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Podcast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98477"/>
            <a:ext cx="11094415" cy="2311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400" b="0" i="0">
                <a:solidFill>
                  <a:srgbClr val="14161A"/>
                </a:solidFill>
                <a:latin typeface="IBM Plex Sans"/>
              </a:rPr>
              <a:t>All offline, fully local-first, no third-party account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Grounded retrieval and ranked synthesis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63663"/>
            <a:ext cx="11094415" cy="2311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400" b="0" i="0">
                <a:solidFill>
                  <a:srgbClr val="14161A"/>
                </a:solidFill>
                <a:latin typeface="IBM Plex Sans"/>
              </a:rPr>
              <a:t>Hybrid dense + lexical retrieval: every answer cites where it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98307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062899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1600" b="1" i="0">
                <a:solidFill>
                  <a:srgbClr val="1F3D63"/>
                </a:solidFill>
                <a:latin typeface="IBM Plex Sans"/>
              </a:rPr>
              <a:t>cosine over embeddings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520099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Dense similarity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3243" y="2898307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7835" y="3062899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BM25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7835" y="3520099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Lexical 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7846" y="2898307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2438" y="3062899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1600" b="1" i="0">
                <a:solidFill>
                  <a:srgbClr val="1F3D63"/>
                </a:solidFill>
                <a:latin typeface="IBM Plex Sans"/>
              </a:rPr>
              <a:t>Reciprocal Rank Fusion (k=60)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2438" y="3520099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Fusion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42449" y="2898307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07041" y="3062899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12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7041" y="3520099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Evidence per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7052" y="2898307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1644" y="3062899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2250" b="1" i="0">
                <a:solidFill>
                  <a:srgbClr val="1F3D63"/>
                </a:solidFill>
                <a:latin typeface="IBM Plex Sans"/>
              </a:rPr>
              <a:t>6 prior turns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1644" y="3520099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Chat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81971"/>
            <a:ext cx="11094415" cy="470662"/>
          </a:xfrm>
          <a:prstGeom prst="rect">
            <a:avLst/>
          </a:prstGeom>
          <a:solidFill>
            <a:srgbClr val="DB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81971"/>
            <a:ext cx="73152" cy="470662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09987"/>
            <a:ext cx="10765231" cy="2146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14161A"/>
                </a:solidFill>
                <a:latin typeface="IBM Plex Sans"/>
              </a:rPr>
              <a:t>Citations flow into the IR. No hallucinated sources. No unknown citations.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Achieve quality through rigorous testing and safeguards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658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Engine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301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Studio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QA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50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Upload limit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2100" b="1" i="0">
                <a:solidFill>
                  <a:srgbClr val="1F3D63"/>
                </a:solidFill>
                <a:latin typeface="IBM Plex Sans"/>
              </a:rPr>
              <a:t>Fernet at 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Encryption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Principles: why we built it this 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21443"/>
            <a:ext cx="11094415" cy="288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50" b="0" i="0">
                <a:solidFill>
                  <a:srgbClr val="14161A"/>
                </a:solidFill>
                <a:latin typeface="IBM Plex Sans"/>
              </a:rPr>
              <a:t>Five commitments baked into the architecture: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13872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Validated IR, not code: LLM output is always a schema, never executable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renderers: same IR + theme = same file, byte-for-byte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Lint before render: findings loop back, enabling self-correction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Nothing lost, nothing unreadable: labels never truncate, text always legible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Local-first, multi-tenant-safe: offline, encrypted, owned sessions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