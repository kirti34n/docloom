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F46E5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 (proj.)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2.8</c:v>
                </c:pt>
                <c:pt idx="1">
                  <c:v>3.4</c:v>
                </c:pt>
                <c:pt idx="2">
                  <c:v>4.2</c:v>
                </c:pt>
                <c:pt idx="3">
                  <c:v>5.0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10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11827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4000" b="1" i="0">
                <a:solidFill>
                  <a:srgbClr val="111827"/>
                </a:solidFill>
                <a:latin typeface="Segoe UI"/>
              </a:rPr>
              <a:t>Q3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5760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000" b="0" i="0">
                <a:solidFill>
                  <a:srgbClr val="6B7280"/>
                </a:solidFill>
                <a:latin typeface="Segoe UI"/>
              </a:rPr>
              <a:t>Results and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400" b="0" i="0">
                <a:solidFill>
                  <a:srgbClr val="6B7280"/>
                </a:solidFill>
                <a:latin typeface="Segoe UI"/>
              </a:rPr>
              <a:t>Analytics team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487168"/>
            <a:ext cx="109728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600" b="1" i="0">
                <a:solidFill>
                  <a:srgbClr val="FFFFFF"/>
                </a:solidFill>
                <a:latin typeface="Segoe UI"/>
              </a:rPr>
              <a:t>Where we landed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111827"/>
                </a:solidFill>
                <a:latin typeface="Segoe UI"/>
              </a:rPr>
              <a:t>By the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5"/>
            <a:ext cx="11094415" cy="25603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24217"/>
            <a:ext cx="3545738" cy="128016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388809"/>
            <a:ext cx="3216554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4F46E5"/>
                </a:solidFill>
                <a:latin typeface="Segoe UI"/>
              </a:rPr>
              <a:t>$4.2M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46009"/>
            <a:ext cx="3216554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100" b="0" i="0">
                <a:solidFill>
                  <a:srgbClr val="6B7280"/>
                </a:solidFill>
                <a:latin typeface="Segoe UI"/>
              </a:rPr>
              <a:t>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102041"/>
            <a:ext cx="3216554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000" b="0" i="0">
                <a:solidFill>
                  <a:srgbClr val="0D9488"/>
                </a:solidFill>
                <a:latin typeface="Segoe UI"/>
              </a:rPr>
              <a:t>+24% YoY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2978" y="2224217"/>
            <a:ext cx="3545738" cy="128016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7570" y="2388809"/>
            <a:ext cx="3216554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4F46E5"/>
                </a:solidFill>
                <a:latin typeface="Segoe UI"/>
              </a:rPr>
              <a:t>124%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7570" y="2846009"/>
            <a:ext cx="3216554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100" b="0" i="0">
                <a:solidFill>
                  <a:srgbClr val="6B7280"/>
                </a:solidFill>
                <a:latin typeface="Segoe UI"/>
              </a:rPr>
              <a:t>Net revenue retention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2224217"/>
            <a:ext cx="3545738" cy="128016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1908" y="2388809"/>
            <a:ext cx="3216554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4F46E5"/>
                </a:solidFill>
                <a:latin typeface="Segoe UI"/>
              </a:rPr>
              <a:t>1.1%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1908" y="2846009"/>
            <a:ext cx="3216554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100" b="0" i="0">
                <a:solidFill>
                  <a:srgbClr val="6B7280"/>
                </a:solidFill>
                <a:latin typeface="Segoe UI"/>
              </a:rPr>
              <a:t>Churn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1908" y="3102041"/>
            <a:ext cx="3216554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000" b="0" i="0">
                <a:solidFill>
                  <a:srgbClr val="0D9488"/>
                </a:solidFill>
                <a:latin typeface="Segoe UI"/>
              </a:rPr>
              <a:t>-0.4pt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89593"/>
            <a:ext cx="11094415" cy="94132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320040" indent="-228600">
              <a:spcAft>
                <a:spcPts val="400"/>
              </a:spcAft>
            </a:pPr>
            <a:r>
              <a:rPr sz="2380">
                <a:solidFill>
                  <a:srgbClr val="4F46E5"/>
                </a:solidFill>
                <a:latin typeface="Segoe UI"/>
              </a:rPr>
              <a:t>•  </a:t>
            </a:r>
            <a:r>
              <a:rPr sz="2380" b="0" i="0">
                <a:solidFill>
                  <a:srgbClr val="111827"/>
                </a:solidFill>
                <a:latin typeface="Segoe UI"/>
              </a:rPr>
              <a:t>Enterprise pipeline doubled quarter over quarter</a:t>
            </a:r>
          </a:p>
          <a:p>
            <a:pPr marL="320040" indent="-228600">
              <a:spcAft>
                <a:spcPts val="400"/>
              </a:spcAft>
            </a:pPr>
            <a:r>
              <a:rPr sz="2380">
                <a:solidFill>
                  <a:srgbClr val="4F46E5"/>
                </a:solidFill>
                <a:latin typeface="Segoe UI"/>
              </a:rPr>
              <a:t>•  </a:t>
            </a:r>
            <a:r>
              <a:rPr sz="2380" b="0" i="0">
                <a:solidFill>
                  <a:srgbClr val="111827"/>
                </a:solidFill>
                <a:latin typeface="Segoe UI"/>
              </a:rPr>
              <a:t>Two new integrations shipped ahead of schedule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111827"/>
                </a:solidFill>
                <a:latin typeface="Segoe UI"/>
              </a:rPr>
              <a:t>Revenue by quarter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5"/>
            <a:ext cx="11094415" cy="25603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74815"/>
          <a:ext cx="11094415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111827"/>
                </a:solidFill>
                <a:latin typeface="Segoe UI"/>
              </a:rPr>
              <a:t>Regional split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5"/>
            <a:ext cx="11094415" cy="25603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750149"/>
          <a:ext cx="6858000" cy="13167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Region</a:t>
                      </a:r>
                    </a:p>
                  </a:txBody>
                  <a:tcPr anchor="ctr" marL="73152" marR="73152" marT="27432" marB="27432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Revenue</a:t>
                      </a:r>
                    </a:p>
                  </a:txBody>
                  <a:tcPr anchor="ctr" marL="73152" marR="73152" marT="27432" marB="27432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Growth</a:t>
                      </a:r>
                    </a:p>
                  </a:txBody>
                  <a:tcPr anchor="ctr" marL="73152" marR="73152" marT="27432" marB="27432">
                    <a:solidFill>
                      <a:srgbClr val="4F46E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1827"/>
                          </a:solidFill>
                          <a:latin typeface="Segoe UI"/>
                        </a:rPr>
                        <a:t>Americas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1827"/>
                          </a:solidFill>
                          <a:latin typeface="Segoe UI"/>
                        </a:rPr>
                        <a:t>$2.4M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1827"/>
                          </a:solidFill>
                          <a:latin typeface="Segoe UI"/>
                        </a:rPr>
                        <a:t>+21%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1827"/>
                          </a:solidFill>
                          <a:latin typeface="Segoe UI"/>
                        </a:rPr>
                        <a:t>EMEA</a:t>
                      </a:r>
                    </a:p>
                  </a:txBody>
                  <a:tcPr anchor="ctr" marL="73152" marR="73152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1827"/>
                          </a:solidFill>
                          <a:latin typeface="Segoe UI"/>
                        </a:rPr>
                        <a:t>$1.2M</a:t>
                      </a:r>
                    </a:p>
                  </a:txBody>
                  <a:tcPr anchor="ctr" marL="73152" marR="73152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1827"/>
                          </a:solidFill>
                          <a:latin typeface="Segoe UI"/>
                        </a:rPr>
                        <a:t>+29%</a:t>
                      </a:r>
                    </a:p>
                  </a:txBody>
                  <a:tcPr anchor="ctr" marL="73152" marR="73152" marT="27432" marB="27432">
                    <a:solidFill>
                      <a:srgbClr val="F4F6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1827"/>
                          </a:solidFill>
                          <a:latin typeface="Segoe UI"/>
                        </a:rPr>
                        <a:t>APAC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1827"/>
                          </a:solidFill>
                          <a:latin typeface="Segoe UI"/>
                        </a:rPr>
                        <a:t>$0.6M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1827"/>
                          </a:solidFill>
                          <a:latin typeface="Segoe UI"/>
                        </a:rPr>
                        <a:t>+33%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03461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100" b="0" i="1">
                <a:solidFill>
                  <a:srgbClr val="6B7280"/>
                </a:solidFill>
                <a:latin typeface="Segoe UI"/>
              </a:rPr>
              <a:t>Q3 revenue by region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