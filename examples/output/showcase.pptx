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Uninterrupted focus blocks per engineer per day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blocks / day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Sheet1!$A$2:$A$3</c:f>
              <c:strCache>
                <c:ptCount val="2"/>
                <c:pt idx="0">
                  <c:v>Meeting-heavy</c:v>
                </c:pt>
                <c:pt idx="1">
                  <c:v>Async-mature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</c:v>
                </c:pt>
                <c:pt idx="1">
                  <c:v>3.2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F172A"/>
                  </a:solidFill>
                  <a:latin typeface="Sor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or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9CED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ora"/>
              </a:defRPr>
            </a:pPr>
          </a:p>
        </c:txPr>
        <c:crossAx val="-2068027336"/>
        <c:crosses val="autoZero"/>
      </c:valAx>
    </c:plotArea>
    <c:dispBlanksAs val="gap"/>
  </c:chart>
  <c:spPr>
    <a:ln>
      <a:noFill/>
    </a:ln>
  </c:spPr>
  <c:txPr>
    <a:bodyPr/>
    <a:lstStyle/>
    <a:p>
      <a:pPr>
        <a:defRPr sz="1100">
          <a:solidFill>
            <a:srgbClr val="0F172A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Sync meeting share of collaboration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hours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2024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31.0</c:v>
                </c:pt>
                <c:pt idx="1">
                  <c:v>24.0</c:v>
                </c:pt>
                <c:pt idx="2">
                  <c:v>18.0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F172A"/>
                  </a:solidFill>
                  <a:latin typeface="Sor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or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9CED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ora"/>
              </a:defRPr>
            </a:pPr>
          </a:p>
        </c:txPr>
        <c:crossAx val="-2068027336"/>
        <c:crosses val="autoZero"/>
      </c:valAx>
    </c:plotArea>
    <c:dispBlanksAs val="gap"/>
  </c:chart>
  <c:spPr>
    <a:ln>
      <a:noFill/>
    </a:ln>
  </c:spPr>
  <c:txPr>
    <a:bodyPr/>
    <a:lstStyle/>
    <a:p>
      <a:pPr>
        <a:defRPr sz="1100">
          <a:solidFill>
            <a:srgbClr val="0F172A"/>
          </a:solidFill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4000" b="1" i="0">
                <a:solidFill>
                  <a:srgbClr val="0F172A"/>
                </a:solidFill>
                <a:latin typeface="Sora"/>
              </a:rPr>
              <a:t>The State of Async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64748B"/>
                </a:solidFill>
                <a:latin typeface="Inter"/>
              </a:rPr>
              <a:t>A 2026 field report for engineering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64748B"/>
                </a:solidFill>
                <a:latin typeface="Inter"/>
              </a:rPr>
              <a:t>docloom studio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FFFFF"/>
                </a:solidFill>
                <a:latin typeface="Sora"/>
              </a:rPr>
              <a:t>Why async won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57617"/>
            <a:ext cx="11094415" cy="153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Sync meetings fell to 18% of collaboration time, from 31% in 2022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Async-mature teams sustain 3.2 deep-work blocks a day, versus 1.4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Top-quartile async orgs see 9% attrition, versus 17% at the bottom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Async is won on the quality of writing, not the absence of meetings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865363"/>
            <a:ext cx="2602153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29955"/>
            <a:ext cx="227296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ora"/>
              </a:rPr>
              <a:t>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87155"/>
            <a:ext cx="227296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64748B"/>
                </a:solidFill>
                <a:latin typeface="Inter"/>
              </a:rPr>
              <a:t>sync meeting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9763"/>
            <a:ext cx="227296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0D9488"/>
                </a:solidFill>
                <a:latin typeface="Inter"/>
              </a:rPr>
              <a:t>from 31% in 2022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9393" y="2865363"/>
            <a:ext cx="2602153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985" y="3029955"/>
            <a:ext cx="227296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ora"/>
              </a:rP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985" y="3487155"/>
            <a:ext cx="227296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64748B"/>
                </a:solidFill>
                <a:latin typeface="Inter"/>
              </a:rPr>
              <a:t>focus blocks / engineer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985" y="3779763"/>
            <a:ext cx="227296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0D9488"/>
                </a:solidFill>
                <a:latin typeface="Inter"/>
              </a:rPr>
              <a:t>vs 1.4 meeting-heavy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865363"/>
            <a:ext cx="2602153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4739" y="3029955"/>
            <a:ext cx="227296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ora"/>
              </a:rPr>
              <a:t>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3487155"/>
            <a:ext cx="227296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64748B"/>
                </a:solidFill>
                <a:latin typeface="Inter"/>
              </a:rPr>
              <a:t>attrition, top quartile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4739" y="3779763"/>
            <a:ext cx="227296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0D9488"/>
                </a:solidFill>
                <a:latin typeface="Inter"/>
              </a:rPr>
              <a:t>vs 17% bottom quartile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901" y="2865363"/>
            <a:ext cx="2602153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5493" y="3029955"/>
            <a:ext cx="227296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ora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5493" y="3487155"/>
            <a:ext cx="227296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64748B"/>
                </a:solidFill>
                <a:latin typeface="Inter"/>
              </a:rPr>
              <a:t>faster review cycles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Focus compounds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 descr="Uninterrupted focus blocks per engineer per day" title="Uninterrupted focus blocks per engineer per day"/>
          <p:cNvGraphicFramePr>
            <a:graphicFrameLocks noGrp="1"/>
          </p:cNvGraphicFramePr>
          <p:nvPr/>
        </p:nvGraphicFramePr>
        <p:xfrm>
          <a:off x="548640" y="1298448"/>
          <a:ext cx="11094415" cy="501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Meeting time keeps falling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 descr="Median across surveyed distributed engineering orgs." title="Sync meeting share of collaboration time"/>
          <p:cNvGraphicFramePr>
            <a:graphicFrameLocks noGrp="1"/>
          </p:cNvGraphicFramePr>
          <p:nvPr/>
        </p:nvGraphicFramePr>
        <p:xfrm>
          <a:off x="548640" y="1398300"/>
          <a:ext cx="11094415" cy="46733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08192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1">
                <a:solidFill>
                  <a:srgbClr val="64748B"/>
                </a:solidFill>
                <a:latin typeface="Inter"/>
              </a:rPr>
              <a:t>Median across surveyed distributed engineering orgs.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FFFFF"/>
                </a:solidFill>
                <a:latin typeface="Sora"/>
              </a:rPr>
              <a:t>Adoption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Maturity maps to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 descr="Outcomes by async maturity quartile." title="Table"/>
          <p:cNvGraphicFramePr>
            <a:graphicFrameLocks noGrp="1"/>
          </p:cNvGraphicFramePr>
          <p:nvPr/>
        </p:nvGraphicFramePr>
        <p:xfrm>
          <a:off x="2666847" y="2878165"/>
          <a:ext cx="6857999" cy="101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8269"/>
                <a:gridCol w="2505807"/>
                <a:gridCol w="2373923"/>
              </a:tblGrid>
              <a:tr h="2529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ra"/>
                        </a:rPr>
                        <a:t>Async maturity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ra"/>
                        </a:rPr>
                        <a:t>Voluntary attrition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ra"/>
                        </a:rPr>
                        <a:t>Focus blocks / day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Top quartile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3.2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Median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13%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2.3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Bottom quartile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F172A"/>
                          </a:solidFill>
                          <a:latin typeface="Sora"/>
                        </a:rPr>
                        <a:t>1.4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66847" y="3926677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1">
                <a:solidFill>
                  <a:srgbClr val="64748B"/>
                </a:solidFill>
                <a:latin typeface="Inter"/>
              </a:rPr>
              <a:t>Outcomes by async maturity quartile.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FFFFF"/>
                </a:solidFill>
                <a:latin typeface="Sora"/>
              </a:rPr>
              <a:t>The playbook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A quarter to async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96263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1.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Cap synchronous time to one protected daily window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2.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Move standups to a written daily thread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3.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Require a short decision doc for anything reversible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4.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Record demos and design walkthroughs asynchronously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5.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Set response-time SLAs and a clear escalation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Common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3931"/>
            <a:ext cx="11094415" cy="153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Response-time anxiety: publish explicit reply SLAs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Decision paralysis: name a driver and a deadline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Documentation rot: assign owners and review quarterly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Timezone unfairness: rotate the few live rituals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24135"/>
            <a:ext cx="11094415" cy="524319"/>
          </a:xfrm>
          <a:prstGeom prst="rect">
            <a:avLst/>
          </a:prstGeom>
          <a:solidFill>
            <a:srgbClr val="F0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424135"/>
            <a:ext cx="73152" cy="524319"/>
          </a:xfrm>
          <a:prstGeom prst="rect">
            <a:avLst/>
          </a:prstGeom>
          <a:solidFill>
            <a:srgbClr val="946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552151"/>
            <a:ext cx="10765231" cy="2682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625" b="0" i="0">
                <a:solidFill>
                  <a:srgbClr val="0F172A"/>
                </a:solidFill>
                <a:latin typeface="Inter"/>
              </a:rPr>
              <a:t>Cutting meetings without durable documents produces isolation, not leverage.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83079" y="2522220"/>
            <a:ext cx="64008" cy="99059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2522220"/>
            <a:ext cx="7985455" cy="9905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0" i="1">
                <a:solidFill>
                  <a:srgbClr val="0F172A"/>
                </a:solidFill>
                <a:latin typeface="Inter"/>
              </a:rPr>
              <a:t>Async is won or lost on the quality of writing, not the absence of meetings.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741420"/>
            <a:ext cx="7985455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600" b="0" i="0">
                <a:solidFill>
                  <a:srgbClr val="64748B"/>
                </a:solidFill>
                <a:latin typeface="Inter"/>
              </a:rPr>
              <a:t>— The State of Async Work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Outlook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18970"/>
            <a:ext cx="11094415" cy="11525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AI drafts and summarizes, cutting the documentation tax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Async-native performance review replaces meeting visibility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4F46E5"/>
                </a:solidFill>
                <a:latin typeface="Inter"/>
              </a:rPr>
              <a:t>•  </a:t>
            </a:r>
            <a:r>
              <a:rPr sz="1750" b="0" i="0">
                <a:solidFill>
                  <a:srgbClr val="0F172A"/>
                </a:solidFill>
                <a:latin typeface="Inter"/>
              </a:rPr>
              <a:t>The risk is over-correction: keep a few high-bandwidth rituals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ora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4415" cy="5010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10896" indent="-310896"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Inter"/>
              </a:rPr>
              <a:t>1. Future of Work 2026, industry survey, https://example.com/future-of-work-2026</a:t>
            </a:r>
          </a:p>
          <a:p>
            <a:pPr marL="310896" indent="-310896"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Inter"/>
              </a:rPr>
              <a:t>2. Deep Work Index 2026, engineering benchmark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