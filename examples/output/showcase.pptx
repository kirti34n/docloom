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Uninterrupted focus blocks per engineer per day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blocks / day</c:v>
                </c:pt>
              </c:strCache>
            </c:strRef>
          </c:tx>
          <c:spPr>
            <a:solidFill>
              <a:srgbClr val="4F46E5"/>
            </a:solidFill>
          </c:spPr>
          <c:cat>
            <c:strRef>
              <c:f>Sheet1!$A$2:$A$3</c:f>
              <c:strCache>
                <c:ptCount val="2"/>
                <c:pt idx="0">
                  <c:v>Meeting-heavy</c:v>
                </c:pt>
                <c:pt idx="1">
                  <c:v>Async-mature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1.4</c:v>
                </c:pt>
                <c:pt idx="1">
                  <c:v>3.2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10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4748B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C9CED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4748B"/>
                </a:solidFill>
                <a:latin typeface="Inter"/>
              </a:defRPr>
            </a:pPr>
          </a:p>
        </c:txPr>
        <c:crossAx val="-2068027336"/>
        <c:crosses val="autoZero"/>
      </c:valAx>
    </c:plotArea>
    <c:dispBlanksAs val="gap"/>
  </c:chart>
  <c:spPr>
    <a:ln>
      <a:noFill/>
    </a:ln>
  </c:spPr>
  <c:txPr>
    <a:bodyPr/>
    <a:lstStyle/>
    <a:p>
      <a:pPr>
        <a:defRPr sz="1100">
          <a:solidFill>
            <a:srgbClr val="0F172A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Sync meeting share of collaboration time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of hours</c:v>
                </c:pt>
              </c:strCache>
            </c:strRef>
          </c:tx>
          <c:spPr>
            <a:solidFill>
              <a:srgbClr val="4F46E5"/>
            </a:solidFill>
          </c:spPr>
          <c:cat>
            <c:strRef>
              <c:f>Sheet1!$A$2:$A$4</c:f>
              <c:strCache>
                <c:ptCount val="3"/>
                <c:pt idx="0">
                  <c:v>2022</c:v>
                </c:pt>
                <c:pt idx="1">
                  <c:v>2024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31.0</c:v>
                </c:pt>
                <c:pt idx="1">
                  <c:v>24.0</c:v>
                </c:pt>
                <c:pt idx="2">
                  <c:v>18.0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10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4748B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C9CED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4748B"/>
                </a:solidFill>
                <a:latin typeface="Inter"/>
              </a:defRPr>
            </a:pPr>
          </a:p>
        </c:txPr>
        <c:crossAx val="-2068027336"/>
        <c:crosses val="autoZero"/>
      </c:valAx>
    </c:plotArea>
    <c:dispBlanksAs val="gap"/>
  </c:chart>
  <c:spPr>
    <a:ln>
      <a:noFill/>
    </a:ln>
  </c:spPr>
  <c:txPr>
    <a:bodyPr/>
    <a:lstStyle/>
    <a:p>
      <a:pPr>
        <a:defRPr sz="1100">
          <a:solidFill>
            <a:srgbClr val="0F172A"/>
          </a:solidFill>
          <a:latin typeface="Inter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2860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000" b="1" i="0">
                <a:solidFill>
                  <a:srgbClr val="0F172A"/>
                </a:solidFill>
                <a:latin typeface="Sora"/>
              </a:rPr>
              <a:t>The State of Async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576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0" i="0">
                <a:solidFill>
                  <a:srgbClr val="64748B"/>
                </a:solidFill>
                <a:latin typeface="Inter"/>
              </a:rPr>
              <a:t>A 2026 field report for engineering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7607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400" b="0" i="0">
                <a:solidFill>
                  <a:srgbClr val="64748B"/>
                </a:solidFill>
                <a:latin typeface="Inter"/>
              </a:rPr>
              <a:t>docloom studio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487168"/>
            <a:ext cx="1097280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FFFFF"/>
                </a:solidFill>
                <a:latin typeface="Sora"/>
              </a:rPr>
              <a:t>Why async won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25268"/>
            <a:ext cx="11094415" cy="2089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Sync meetings fell to 18% of collaboration time, from 31% in 2022</a:t>
            </a:r>
          </a:p>
          <a:p>
            <a:pPr marL="320040" indent="-228600">
              <a:spcAft>
                <a:spcPts val="6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Async-mature teams sustain 3.2 deep-work blocks a day, versus 1.4</a:t>
            </a:r>
          </a:p>
          <a:p>
            <a:pPr marL="320040" indent="-228600">
              <a:spcAft>
                <a:spcPts val="6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Top-quartile async orgs see 9% attrition, versus 17% at the bottom</a:t>
            </a:r>
          </a:p>
          <a:p>
            <a:pPr marL="320040" indent="-228600">
              <a:spcAft>
                <a:spcPts val="6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Async is won on the quality of writing, not the absence of meetings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By the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865363"/>
            <a:ext cx="2602153" cy="12801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3029955"/>
            <a:ext cx="227296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4F46E5"/>
                </a:solidFill>
                <a:latin typeface="Sora"/>
              </a:rPr>
              <a:t>18%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87155"/>
            <a:ext cx="227296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0">
                <a:solidFill>
                  <a:srgbClr val="64748B"/>
                </a:solidFill>
                <a:latin typeface="Inter"/>
              </a:rPr>
              <a:t>sync meeting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43187"/>
            <a:ext cx="2272969" cy="18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00" b="0" i="0">
                <a:solidFill>
                  <a:srgbClr val="0D9488"/>
                </a:solidFill>
                <a:latin typeface="Inter"/>
              </a:rPr>
              <a:t>from 31% in 2022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2865363"/>
            <a:ext cx="2602153" cy="12801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3985" y="3029955"/>
            <a:ext cx="227296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4F46E5"/>
                </a:solidFill>
                <a:latin typeface="Sora"/>
              </a:rPr>
              <a:t>3.2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985" y="3487155"/>
            <a:ext cx="227296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0">
                <a:solidFill>
                  <a:srgbClr val="64748B"/>
                </a:solidFill>
                <a:latin typeface="Inter"/>
              </a:rPr>
              <a:t>focus blocks / engineer /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985" y="3743187"/>
            <a:ext cx="2272969" cy="18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00" b="0" i="0">
                <a:solidFill>
                  <a:srgbClr val="0D9488"/>
                </a:solidFill>
                <a:latin typeface="Inter"/>
              </a:rPr>
              <a:t>vs 1.4 meeting-heavy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865363"/>
            <a:ext cx="2602153" cy="12801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3029955"/>
            <a:ext cx="227296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4F46E5"/>
                </a:solidFill>
                <a:latin typeface="Sora"/>
              </a:rPr>
              <a:t>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3487155"/>
            <a:ext cx="227296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0">
                <a:solidFill>
                  <a:srgbClr val="64748B"/>
                </a:solidFill>
                <a:latin typeface="Inter"/>
              </a:rPr>
              <a:t>attrition, top quartile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4739" y="3743187"/>
            <a:ext cx="2272969" cy="18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00" b="0" i="0">
                <a:solidFill>
                  <a:srgbClr val="0D9488"/>
                </a:solidFill>
                <a:latin typeface="Inter"/>
              </a:rPr>
              <a:t>vs 17% bottom quartile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40901" y="2865363"/>
            <a:ext cx="2602153" cy="12801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5493" y="3029955"/>
            <a:ext cx="227296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4F46E5"/>
                </a:solidFill>
                <a:latin typeface="Sora"/>
              </a:rPr>
              <a:t>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5493" y="3487155"/>
            <a:ext cx="227296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0">
                <a:solidFill>
                  <a:srgbClr val="64748B"/>
                </a:solidFill>
                <a:latin typeface="Inter"/>
              </a:rPr>
              <a:t>faster review cycles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Focus compounds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74815"/>
          <a:ext cx="11094415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Meeting time keeps falling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74962"/>
          <a:ext cx="11094415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26338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1">
                <a:solidFill>
                  <a:srgbClr val="64748B"/>
                </a:solidFill>
                <a:latin typeface="Inter"/>
              </a:rPr>
              <a:t>Median across surveyed distributed engineering orgs.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487168"/>
            <a:ext cx="1097280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FFFFF"/>
                </a:solidFill>
                <a:latin typeface="Sora"/>
              </a:rPr>
              <a:t>Adoption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Maturity maps to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878165"/>
          <a:ext cx="6858000" cy="10119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2529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Inter"/>
                        </a:rPr>
                        <a:t>Async maturity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Inter"/>
                        </a:rPr>
                        <a:t>Voluntary attrition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Inter"/>
                        </a:rPr>
                        <a:t>Focus blocks / day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Top quartile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3.2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Median</a:t>
                      </a:r>
                    </a:p>
                  </a:txBody>
                  <a:tcPr anchor="ctr" marL="73152" marR="73152" marT="27432" marB="27432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13%</a:t>
                      </a:r>
                    </a:p>
                  </a:txBody>
                  <a:tcPr anchor="ctr" marL="73152" marR="73152" marT="27432" marB="27432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2.3</a:t>
                      </a:r>
                    </a:p>
                  </a:txBody>
                  <a:tcPr anchor="ctr" marL="73152" marR="73152" marT="27432" marB="27432">
                    <a:solidFill>
                      <a:srgbClr val="F4F6FB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Bottom quartile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17%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1.4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26677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1">
                <a:solidFill>
                  <a:srgbClr val="64748B"/>
                </a:solidFill>
                <a:latin typeface="Inter"/>
              </a:rPr>
              <a:t>Outcomes by async maturity quartile.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487168"/>
            <a:ext cx="1097280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FFFFF"/>
                </a:solidFill>
                <a:latin typeface="Sora"/>
              </a:rPr>
              <a:t>The playbook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A quarter to async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60600"/>
            <a:ext cx="11094415" cy="248197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2261">
                <a:solidFill>
                  <a:srgbClr val="4F46E5"/>
                </a:solidFill>
                <a:latin typeface="Inter"/>
              </a:rPr>
              <a:t>1. </a:t>
            </a:r>
            <a:r>
              <a:rPr sz="2261" b="0" i="0">
                <a:solidFill>
                  <a:srgbClr val="0F172A"/>
                </a:solidFill>
                <a:latin typeface="Inter"/>
              </a:rPr>
              <a:t>Cap synchronous time to one protected daily window</a:t>
            </a:r>
          </a:p>
          <a:p>
            <a:pPr marL="320040" indent="-228600">
              <a:spcAft>
                <a:spcPts val="600"/>
              </a:spcAft>
            </a:pPr>
            <a:r>
              <a:rPr sz="2261">
                <a:solidFill>
                  <a:srgbClr val="4F46E5"/>
                </a:solidFill>
                <a:latin typeface="Inter"/>
              </a:rPr>
              <a:t>2. </a:t>
            </a:r>
            <a:r>
              <a:rPr sz="2261" b="0" i="0">
                <a:solidFill>
                  <a:srgbClr val="0F172A"/>
                </a:solidFill>
                <a:latin typeface="Inter"/>
              </a:rPr>
              <a:t>Move standups to a written daily thread</a:t>
            </a:r>
          </a:p>
          <a:p>
            <a:pPr marL="320040" indent="-228600">
              <a:spcAft>
                <a:spcPts val="600"/>
              </a:spcAft>
            </a:pPr>
            <a:r>
              <a:rPr sz="2261">
                <a:solidFill>
                  <a:srgbClr val="4F46E5"/>
                </a:solidFill>
                <a:latin typeface="Inter"/>
              </a:rPr>
              <a:t>3. </a:t>
            </a:r>
            <a:r>
              <a:rPr sz="2261" b="0" i="0">
                <a:solidFill>
                  <a:srgbClr val="0F172A"/>
                </a:solidFill>
                <a:latin typeface="Inter"/>
              </a:rPr>
              <a:t>Require a short decision doc for anything reversible</a:t>
            </a:r>
          </a:p>
          <a:p>
            <a:pPr marL="320040" indent="-228600">
              <a:spcAft>
                <a:spcPts val="600"/>
              </a:spcAft>
            </a:pPr>
            <a:r>
              <a:rPr sz="2261">
                <a:solidFill>
                  <a:srgbClr val="4F46E5"/>
                </a:solidFill>
                <a:latin typeface="Inter"/>
              </a:rPr>
              <a:t>4. </a:t>
            </a:r>
            <a:r>
              <a:rPr sz="2261" b="0" i="0">
                <a:solidFill>
                  <a:srgbClr val="0F172A"/>
                </a:solidFill>
                <a:latin typeface="Inter"/>
              </a:rPr>
              <a:t>Record demos and design walkthroughs asynchronously</a:t>
            </a:r>
          </a:p>
          <a:p>
            <a:pPr marL="320040" indent="-228600">
              <a:spcAft>
                <a:spcPts val="600"/>
              </a:spcAft>
            </a:pPr>
            <a:r>
              <a:rPr sz="2261">
                <a:solidFill>
                  <a:srgbClr val="4F46E5"/>
                </a:solidFill>
                <a:latin typeface="Inter"/>
              </a:rPr>
              <a:t>5. </a:t>
            </a:r>
            <a:r>
              <a:rPr sz="2261" b="0" i="0">
                <a:solidFill>
                  <a:srgbClr val="0F172A"/>
                </a:solidFill>
                <a:latin typeface="Inter"/>
              </a:rPr>
              <a:t>Set response-time SLAs and a clear escalation path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Common pitfalls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27878"/>
            <a:ext cx="11094415" cy="185302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2110">
                <a:solidFill>
                  <a:srgbClr val="4F46E5"/>
                </a:solidFill>
                <a:latin typeface="Inter"/>
              </a:rPr>
              <a:t>•  </a:t>
            </a:r>
            <a:r>
              <a:rPr sz="2110" b="0" i="0">
                <a:solidFill>
                  <a:srgbClr val="0F172A"/>
                </a:solidFill>
                <a:latin typeface="Inter"/>
              </a:rPr>
              <a:t>Response-time anxiety: publish explicit reply SLAs</a:t>
            </a:r>
          </a:p>
          <a:p>
            <a:pPr marL="320040" indent="-228600">
              <a:spcAft>
                <a:spcPts val="600"/>
              </a:spcAft>
            </a:pPr>
            <a:r>
              <a:rPr sz="2110">
                <a:solidFill>
                  <a:srgbClr val="4F46E5"/>
                </a:solidFill>
                <a:latin typeface="Inter"/>
              </a:rPr>
              <a:t>•  </a:t>
            </a:r>
            <a:r>
              <a:rPr sz="2110" b="0" i="0">
                <a:solidFill>
                  <a:srgbClr val="0F172A"/>
                </a:solidFill>
                <a:latin typeface="Inter"/>
              </a:rPr>
              <a:t>Decision paralysis: name a driver and a deadline</a:t>
            </a:r>
          </a:p>
          <a:p>
            <a:pPr marL="320040" indent="-228600">
              <a:spcAft>
                <a:spcPts val="600"/>
              </a:spcAft>
            </a:pPr>
            <a:r>
              <a:rPr sz="2110">
                <a:solidFill>
                  <a:srgbClr val="4F46E5"/>
                </a:solidFill>
                <a:latin typeface="Inter"/>
              </a:rPr>
              <a:t>•  </a:t>
            </a:r>
            <a:r>
              <a:rPr sz="2110" b="0" i="0">
                <a:solidFill>
                  <a:srgbClr val="0F172A"/>
                </a:solidFill>
                <a:latin typeface="Inter"/>
              </a:rPr>
              <a:t>Documentation rot: assign owners and review quarterly</a:t>
            </a:r>
          </a:p>
          <a:p>
            <a:pPr marL="320040" indent="-228600">
              <a:spcAft>
                <a:spcPts val="600"/>
              </a:spcAft>
            </a:pPr>
            <a:r>
              <a:rPr sz="2110">
                <a:solidFill>
                  <a:srgbClr val="4F46E5"/>
                </a:solidFill>
                <a:latin typeface="Inter"/>
              </a:rPr>
              <a:t>•  </a:t>
            </a:r>
            <a:r>
              <a:rPr sz="2110" b="0" i="0">
                <a:solidFill>
                  <a:srgbClr val="0F172A"/>
                </a:solidFill>
                <a:latin typeface="Inter"/>
              </a:rPr>
              <a:t>Timezone unfairness: rotate the few live rituals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584409"/>
            <a:ext cx="11094415" cy="579546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584409"/>
            <a:ext cx="73152" cy="57954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12425"/>
            <a:ext cx="10765231" cy="32351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959" b="0" i="0">
                <a:solidFill>
                  <a:srgbClr val="0F172A"/>
                </a:solidFill>
                <a:latin typeface="Inter"/>
              </a:rPr>
              <a:t>Cutting meetings without durable documents produces isolation, not leverage.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783079" y="2522220"/>
            <a:ext cx="64008" cy="99059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03120" y="2522220"/>
            <a:ext cx="7985455" cy="9905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000" b="0" i="1">
                <a:solidFill>
                  <a:srgbClr val="0F172A"/>
                </a:solidFill>
                <a:latin typeface="Inter"/>
              </a:rPr>
              <a:t>Async is won or lost on the quality of writing, not the absence of meetings.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3741420"/>
            <a:ext cx="7985455" cy="32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00" b="0" i="0">
                <a:solidFill>
                  <a:srgbClr val="64748B"/>
                </a:solidFill>
                <a:latin typeface="Inter"/>
              </a:rPr>
              <a:t>— The State of Async Work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Outlook 2027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4708"/>
            <a:ext cx="11094415" cy="156743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AI drafts and summarizes, cutting the documentation tax</a:t>
            </a:r>
          </a:p>
          <a:p>
            <a:pPr marL="320040" indent="-228600">
              <a:spcAft>
                <a:spcPts val="6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Async-native performance review replaces meeting visibility</a:t>
            </a:r>
          </a:p>
          <a:p>
            <a:pPr marL="320040" indent="-228600">
              <a:spcAft>
                <a:spcPts val="6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The risk is over-correction: keep a few high-bandwidth rituals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1094415" cy="5010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64748B"/>
                </a:solidFill>
                <a:latin typeface="Inter"/>
              </a:rPr>
              <a:t>1. Future of Work 2026, industry survey, https://example.com/future-of-work-2026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64748B"/>
                </a:solidFill>
                <a:latin typeface="Inter"/>
              </a:rPr>
              <a:t>2. Deep Work Index 2026, engineering benchmark (2026)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